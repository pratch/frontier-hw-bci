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charts/p2chart1.xml" ContentType="application/vnd.openxmlformats-officedocument.drawingml.chart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9.xml" ContentType="application/vnd.openxmlformats-officedocument.presentationml.notesSlide+xml"/>
  <Override PartName="/ppt/charts/p2chart2.xml" ContentType="application/vnd.openxmlformats-officedocument.drawingml.chart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62" r:id="rId8"/>
    <p:sldId id="263" r:id="rId9"/>
    <p:sldId id="264" r:id="rId10"/>
    <p:sldId id="265" r:id="rId11"/>
    <p:sldId id="266" r:id="rId12"/>
    <p:sldId id="267" r:id="rId13"/>
    <p:sldId id="276" r:id="rId27"/>
    <p:sldId id="277" r:id="rId28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processing" id="{fa66273f-ec35-a4c5-88d9-3867ef0d0eb4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Backup" id="{c8406416-e0e7-cfe7-b412-8a3363c2bdb5}">
          <p14:sldIdLst>
            <p14:sldId id="262"/>
          </p14:sldIdLst>
        </p14:section>
        <p14:section name="S3 walkthrough" id="{03427bef-8fcf-20d6-3a34-644d7c18ed80}">
          <p14:sldIdLst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p2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p2Microsoft_Excel_Worksheet1.xlsx"/></Relationships>
</file>

<file path=ppt/charts/_rels/p2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p2Microsoft_Excel_Worksheet2.xlsx"/></Relationships>
</file>

<file path=ppt/charts/p2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337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B7F7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B7F7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7F79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B7F79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filters 16/8</c:v>
                  </c:pt>
                  <c:pt idx="1">
                    <c:v>lr 0.0003</c:v>
                  </c:pt>
                  <c:pt idx="2">
                    <c:v>lr 0.0005, batch 16</c:v>
                  </c:pt>
                  <c:pt idx="3">
                    <c:v>lr 0.0005</c:v>
                  </c:pt>
                  <c:pt idx="4">
                    <c:v>batch 16</c:v>
                  </c:pt>
                  <c:pt idx="5">
                    <c:v>dropout 0.3</c:v>
                  </c:pt>
                  <c:pt idx="6">
                    <c:v>filters 48/24</c:v>
                  </c:pt>
                  <c:pt idx="7">
                    <c:v>dropout 0.6</c:v>
                  </c:pt>
                  <c:pt idx="8">
                    <c:v>k = 5</c:v>
                  </c:pt>
                  <c:pt idx="9">
                    <c:v>baseline (k = 3)</c:v>
                  </c:pt>
                  <c:pt idx="10">
                    <c:v>k = 2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88.67</c:v>
                </c:pt>
                <c:pt idx="1">
                  <c:v>89.11</c:v>
                </c:pt>
                <c:pt idx="2">
                  <c:v>89.34</c:v>
                </c:pt>
                <c:pt idx="3">
                  <c:v>90.28</c:v>
                </c:pt>
                <c:pt idx="4">
                  <c:v>90.29</c:v>
                </c:pt>
                <c:pt idx="5">
                  <c:v>90.74</c:v>
                </c:pt>
                <c:pt idx="6">
                  <c:v>90.96</c:v>
                </c:pt>
                <c:pt idx="7">
                  <c:v>90.98</c:v>
                </c:pt>
                <c:pt idx="8">
                  <c:v>91.2</c:v>
                </c:pt>
                <c:pt idx="9">
                  <c:v>91.67</c:v>
                </c:pt>
                <c:pt idx="10">
                  <c:v>91.68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2337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37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3"/>
          <c:min val="85"/>
        </c:scaling>
        <c:delete val="0"/>
        <c:axPos val="b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080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808080"/>
                    </a:solidFill>
                    <a:latin typeface="+mn-lt"/>
                  </a:rPr>
                  <a:t>Validation accuracy (%), axis starts at 85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p2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HWNet − MixNet</c:v>
                </c:pt>
              </c:strCache>
            </c:strRef>
          </c:tx>
          <c:spPr>
            <a:solidFill>
              <a:srgbClr val="1B7F79"/>
            </a:solidFill>
            <a:effectLst/>
          </c:spPr>
          <c:invertIfNegative val="0"/>
          <c:dLbls>
            <c:numFmt formatCode="+0.0;-0.0;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337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7F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6A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6A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6A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7F7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7F7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6A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B7F7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99999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S01</c:v>
                  </c:pt>
                  <c:pt idx="1">
                    <c:v>S02</c:v>
                  </c:pt>
                  <c:pt idx="2">
                    <c:v>S03</c:v>
                  </c:pt>
                  <c:pt idx="3">
                    <c:v>S04</c:v>
                  </c:pt>
                  <c:pt idx="4">
                    <c:v>S05</c:v>
                  </c:pt>
                  <c:pt idx="5">
                    <c:v>S06</c:v>
                  </c:pt>
                  <c:pt idx="6">
                    <c:v>S07</c:v>
                  </c:pt>
                  <c:pt idx="7">
                    <c:v>S08</c:v>
                  </c:pt>
                  <c:pt idx="8">
                    <c:v>S09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0.56</c:v>
                </c:pt>
                <c:pt idx="1">
                  <c:v>-4.58</c:v>
                </c:pt>
                <c:pt idx="2">
                  <c:v>-1.53</c:v>
                </c:pt>
                <c:pt idx="3">
                  <c:v>-1.67</c:v>
                </c:pt>
                <c:pt idx="4">
                  <c:v>17.78</c:v>
                </c:pt>
                <c:pt idx="5">
                  <c:v>4.44</c:v>
                </c:pt>
                <c:pt idx="6">
                  <c:v>-1.67</c:v>
                </c:pt>
                <c:pt idx="7">
                  <c:v>2.92</c:v>
                </c:pt>
                <c:pt idx="8">
                  <c:v>0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b="0" i="0" strike="noStrike" sz="900" u="none">
                  <a:solidFill>
                    <a:srgbClr val="2337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37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-1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080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808080"/>
                    </a:solidFill>
                    <a:latin typeface="+mn-lt"/>
                  </a:rPr>
                  <a:t>HWNet − MixNet, test accuracy (pp)</a:t>
                </a:r>
              </a:p>
            </c:rich>
          </c:tx>
          <c:layout/>
          <c:overlay val="0"/>
        </c:title>
        <c:numFmt formatCode="+0;-0;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hands over a 36 x 15 map per trial. Spatial and spectral work is done, so HWNet only has to learn timing across the 15 windows. Two conv blocks with 1x3 kernels, heavy dropout, and a max-norm dense layer. 5,362 trainable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with MixNet. The key difference is the input: MixNet learns from 7,200 numbers per trial, we learn from 540. That lets us drop the autoencoder and triplet loss and use about 8x fewer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is a cheap screen: 11 configs on 3 subjects. Optimizer settings were already best. Only kernel length and dropout were close enough to the baseline to be worth a full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 runs the 5 candidates on all 9 subjects. The baseline k=3, dropout 0.5 wins on both validation metrics, so it is the final model. Differences among the top 3 are tiny.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test on session E. The selected model reaches 78.3% vs 76.5% for MixNet, with about 8x fewer parameters. The paired tests across 9 subjects are far from significant, so we claim parity at much lower cost, not a better model. The k=5 row is shown only as an ablation: it scored slightly higher on test but lower on validation, and the gap is within run-to-run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Per-subject differences. S05 alone accounts for the mean gain; on the other 8 subjects the two models are essentially tied. S02 is near chance for both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the features from Part 1 let a very small CNN reach MixNet-level accuracy. Tuning did not find anything better than the first design. Next steps are multi-scale kernels, feature attention, a recurrent head, and more seeds.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87168"/>
            <a:ext cx="804672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938528"/>
            <a:ext cx="8046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../charts/p2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../charts/p2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Part 1: Preprocessing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9385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Filter-bank CSP + band power in short time windows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ML Frontiers, VISTEC · BCIC IV-2a, left vs right hand MI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Why not just use CSP, or MixNet’s input?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1828800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1/5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60120"/>
            <a:ext cx="3383280" cy="32918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 shows up as </a:t>
            </a:r>
            <a:r>
              <a:rPr lang="en-US" sz="1400" dirty="0">
                <a:solidFill>
                  <a:schemeClr val="accent4"/>
                </a:solidFill>
              </a:rPr>
              <a:t>ERD/ERS in Mu and beta</a:t>
            </a:r>
            <a:r>
              <a:rPr lang="en-US" sz="1400" dirty="0">
                <a:solidFill>
                  <a:schemeClr val="tx1"/>
                </a:solidFill>
              </a:rPr>
              <a:t>, around C3/C4</a:t>
            </a:r>
            <a:r>
              <a:rPr lang="en-US" sz="1000" dirty="0">
                <a:solidFill>
                  <a:schemeClr val="tx2"/>
                </a:solidFill>
              </a:rPr>
              <a:t> [lecture p.51]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Classic CSP keeps one log-variance per trial, so it </a:t>
            </a:r>
            <a:r>
              <a:rPr lang="en-US" sz="1400" dirty="0">
                <a:solidFill>
                  <a:schemeClr val="accent4"/>
                </a:solidFill>
              </a:rPr>
              <a:t>throws away the timing</a:t>
            </a:r>
            <a:r>
              <a:rPr lang="en-US" sz="1400" dirty="0">
                <a:solidFill>
                  <a:schemeClr val="tx1"/>
                </a:solidFill>
              </a:rPr>
              <a:t> inside the trial</a:t>
            </a:r>
            <a:r>
              <a:rPr lang="en-US" sz="1000" dirty="0">
                <a:solidFill>
                  <a:schemeClr val="tx2"/>
                </a:solidFill>
              </a:rPr>
              <a:t> [lecture p.62]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MixNet keeps the whole CSP time series</a:t>
            </a:r>
            <a:r>
              <a:rPr lang="en-US" sz="1000" dirty="0">
                <a:solidFill>
                  <a:schemeClr val="tx2"/>
                </a:solidFill>
              </a:rPr>
              <a:t> [lecture p.63]</a:t>
            </a:r>
            <a:r>
              <a:rPr lang="en-US" sz="1400" dirty="0">
                <a:solidFill>
                  <a:schemeClr val="tx1"/>
                </a:solidFill>
              </a:rPr>
              <a:t>: 7,200 numbers per trial, learned from only ∼115 training trials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1005840"/>
          <a:ext cx="46634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051560"/>
                <a:gridCol w="1188720"/>
                <a:gridCol w="10058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FBCSP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timing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400 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windows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per 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× 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×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per 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Hypothesis body"/>
          <p:cNvSpPr/>
          <p:nvPr/>
        </p:nvSpPr>
        <p:spPr>
          <a:xfrm>
            <a:off x="4069080" y="2286000"/>
            <a:ext cx="4663440" cy="960120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8" name="Hypothesis title"/>
          <p:cNvSpPr txBox="1"/>
          <p:nvPr/>
        </p:nvSpPr>
        <p:spPr>
          <a:xfrm>
            <a:off x="4069080" y="2286000"/>
            <a:ext cx="466344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Hypothesis</a:t>
            </a:r>
            <a:endParaRPr lang="en-US" sz="1300" dirty="0"/>
          </a:p>
        </p:txBody>
      </p:sp>
      <p:sp>
        <p:nvSpPr>
          <p:cNvPr id="9" name="Hypothesis text"/>
          <p:cNvSpPr txBox="1"/>
          <p:nvPr/>
        </p:nvSpPr>
        <p:spPr>
          <a:xfrm>
            <a:off x="4105656" y="2596896"/>
            <a:ext cx="4590288" cy="61264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Band power in </a:t>
            </a:r>
            <a:r>
              <a:rPr lang="en-US" sz="1300" dirty="0">
                <a:solidFill>
                  <a:schemeClr val="accent4"/>
                </a:solidFill>
              </a:rPr>
              <a:t>short time windows</a:t>
            </a:r>
            <a:r>
              <a:rPr lang="en-US" sz="1300" dirty="0">
                <a:solidFill>
                  <a:schemeClr val="tx1"/>
                </a:solidFill>
              </a:rPr>
              <a:t> keeps the timing of ERD/ERS, at a size a small model can learn from ∼115 trials.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Pipeline: four steps, two of them learned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3657600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2/5</a:t>
            </a:r>
            <a:endParaRPr lang="en-US" sz="900" dirty="0"/>
          </a:p>
        </p:txBody>
      </p:sp>
      <p:sp>
        <p:nvSpPr>
          <p:cNvPr id="5" name="step Raw EEG"/>
          <p:cNvSpPr/>
          <p:nvPr/>
        </p:nvSpPr>
        <p:spPr>
          <a:xfrm>
            <a:off x="594360" y="1188720"/>
            <a:ext cx="1371600" cy="731520"/>
          </a:xfrm>
          <a:prstGeom prst="roundRect">
            <a:avLst>
              <a:gd name="adj" fmla="val 6250"/>
            </a:avLst>
          </a:prstGeom>
          <a:solidFill>
            <a:schemeClr val="accent5">
              <a:alpha val="10000"/>
            </a:schemeClr>
          </a:solidFill>
          <a:ln w="9525">
            <a:solidFill>
              <a:schemeClr val="accent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Raw EEG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20 channels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 s at 100 Hz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20 × 400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93392" y="155448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tep Filter bank"/>
          <p:cNvSpPr/>
          <p:nvPr/>
        </p:nvSpPr>
        <p:spPr>
          <a:xfrm>
            <a:off x="2240280" y="1188720"/>
            <a:ext cx="1371600" cy="731520"/>
          </a:xfrm>
          <a:prstGeom prst="roundRect">
            <a:avLst>
              <a:gd name="adj" fmla="val 6250"/>
            </a:avLst>
          </a:prstGeom>
          <a:solidFill>
            <a:schemeClr val="accent5">
              <a:alpha val="10000"/>
            </a:schemeClr>
          </a:solidFill>
          <a:ln w="9525">
            <a:solidFill>
              <a:schemeClr val="accent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Filter bank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9 bands, 4-40 Hz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Butterworth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9 × 20 × 400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39312" y="155448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tep CSP per band"/>
          <p:cNvSpPr/>
          <p:nvPr/>
        </p:nvSpPr>
        <p:spPr>
          <a:xfrm>
            <a:off x="3886200" y="1188720"/>
            <a:ext cx="1371600" cy="731520"/>
          </a:xfrm>
          <a:prstGeom prst="roundRect">
            <a:avLst>
              <a:gd name="adj" fmla="val 625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CSP per band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 filters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 band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36 × 400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85232" y="155448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step Log-variance"/>
          <p:cNvSpPr/>
          <p:nvPr/>
        </p:nvSpPr>
        <p:spPr>
          <a:xfrm>
            <a:off x="5532120" y="1188720"/>
            <a:ext cx="1371600" cy="731520"/>
          </a:xfrm>
          <a:prstGeom prst="roundRect">
            <a:avLst>
              <a:gd name="adj" fmla="val 6250"/>
            </a:avLst>
          </a:prstGeom>
          <a:solidFill>
            <a:schemeClr val="accent5">
              <a:alpha val="10000"/>
            </a:schemeClr>
          </a:solidFill>
          <a:ln w="9525">
            <a:solidFill>
              <a:schemeClr val="accent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Log-variance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0.5 s windows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0.25 s step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36 × 15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31152" y="155448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step Standardize"/>
          <p:cNvSpPr/>
          <p:nvPr/>
        </p:nvSpPr>
        <p:spPr>
          <a:xfrm>
            <a:off x="7178040" y="1188720"/>
            <a:ext cx="1371600" cy="731520"/>
          </a:xfrm>
          <a:prstGeom prst="roundRect">
            <a:avLst>
              <a:gd name="adj" fmla="val 625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Standardize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each feature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36 × 15</a:t>
            </a:r>
            <a:endParaRPr lang="en-US" sz="1000" dirty="0"/>
          </a:p>
        </p:txBody>
      </p:sp>
      <p:sp>
        <p:nvSpPr>
          <p:cNvPr id="19" name="brace same as MixNet"/>
          <p:cNvSpPr/>
          <p:nvPr/>
        </p:nvSpPr>
        <p:spPr>
          <a:xfrm rot="5400000">
            <a:off x="3675888" y="-448056"/>
            <a:ext cx="146304" cy="3017520"/>
          </a:xfrm>
          <a:prstGeom prst="leftBrace">
            <a:avLst/>
          </a:prstGeom>
          <a:noFill/>
          <a:ln w="15875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40280" y="7406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same as MixNet</a:t>
            </a:r>
            <a:endParaRPr lang="en-US" sz="1100" dirty="0"/>
          </a:p>
        </p:txBody>
      </p:sp>
      <p:sp>
        <p:nvSpPr>
          <p:cNvPr id="21" name="brace our change"/>
          <p:cNvSpPr/>
          <p:nvPr/>
        </p:nvSpPr>
        <p:spPr>
          <a:xfrm rot="5400000">
            <a:off x="6967728" y="-448056"/>
            <a:ext cx="146304" cy="3017520"/>
          </a:xfrm>
          <a:prstGeom prst="leftBrac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7406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our change</a:t>
            </a:r>
            <a:endParaRPr lang="en-US" sz="1100" dirty="0"/>
          </a:p>
        </p:txBody>
      </p:sp>
      <p:sp>
        <p:nvSpPr>
          <p:cNvPr id="23" name="Fit on train body"/>
          <p:cNvSpPr/>
          <p:nvPr/>
        </p:nvSpPr>
        <p:spPr>
          <a:xfrm>
            <a:off x="411480" y="2514600"/>
            <a:ext cx="4572000" cy="1691640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24" name="Fit on train title"/>
          <p:cNvSpPr txBox="1"/>
          <p:nvPr/>
        </p:nvSpPr>
        <p:spPr>
          <a:xfrm>
            <a:off x="411480" y="2514600"/>
            <a:ext cx="457200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Teal boxes: fit on the training fold only</a:t>
            </a:r>
            <a:endParaRPr lang="en-US" sz="1300" dirty="0"/>
          </a:p>
        </p:txBody>
      </p:sp>
      <p:sp>
        <p:nvSpPr>
          <p:cNvPr id="25" name="Fit on train text"/>
          <p:cNvSpPr txBox="1"/>
          <p:nvPr/>
        </p:nvSpPr>
        <p:spPr>
          <a:xfrm>
            <a:off x="448056" y="2825496"/>
            <a:ext cx="4498848" cy="13441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“Fit CSP: training data only”</a:t>
            </a:r>
            <a:r>
              <a:rPr lang="en-US" sz="900" dirty="0">
                <a:solidFill>
                  <a:schemeClr val="tx2"/>
                </a:solidFill>
              </a:rPr>
              <a:t> [lecture p.60]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“Training-set per-channel standardization”</a:t>
            </a:r>
            <a:r>
              <a:rPr lang="en-US" sz="900" dirty="0">
                <a:solidFill>
                  <a:schemeClr val="tx2"/>
                </a:solidFill>
              </a:rPr>
              <a:t> [lecture p.31]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Validation and session E only reuse the saved filters and mean/SD. A self-check in the code tests this.</a:t>
            </a:r>
            <a:endParaRPr lang="en-US" sz="1300" dirty="0"/>
          </a:p>
        </p:txBody>
      </p:sp>
      <p:sp>
        <p:nvSpPr>
          <p:cNvPr id="26" name="Output body"/>
          <p:cNvSpPr/>
          <p:nvPr/>
        </p:nvSpPr>
        <p:spPr>
          <a:xfrm>
            <a:off x="5257800" y="2514600"/>
            <a:ext cx="3474720" cy="868680"/>
          </a:xfrm>
          <a:prstGeom prst="rect">
            <a:avLst/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27" name="Output title"/>
          <p:cNvSpPr txBox="1"/>
          <p:nvPr/>
        </p:nvSpPr>
        <p:spPr>
          <a:xfrm>
            <a:off x="5257800" y="2514600"/>
            <a:ext cx="3474720" cy="2743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Output per trial</a:t>
            </a:r>
            <a:endParaRPr lang="en-US" sz="1300" dirty="0"/>
          </a:p>
        </p:txBody>
      </p:sp>
      <p:sp>
        <p:nvSpPr>
          <p:cNvPr id="28" name="Output text"/>
          <p:cNvSpPr txBox="1"/>
          <p:nvPr/>
        </p:nvSpPr>
        <p:spPr>
          <a:xfrm>
            <a:off x="5294376" y="2825496"/>
            <a:ext cx="3401568" cy="5212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36 features (9 bands × 4 CSP filters) × 15 time windows, standardized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Our change: one log-variance per short window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5486400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3/5</a:t>
            </a:r>
            <a:endParaRPr lang="en-US" sz="900" dirty="0"/>
          </a:p>
        </p:txBody>
      </p:sp>
      <p:pic>
        <p:nvPicPr>
          <p:cNvPr id="5" name="Image 0" descr="CSP signal with sliding 0.5 s windows (0.25 s step); power drops about 1 s after the cue (ERD); one log-variance bar per window, 0 to 4 s after c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4663440" cy="2374666"/>
          </a:xfrm>
          <a:prstGeom prst="rect">
            <a:avLst/>
          </a:prstGeom>
        </p:spPr>
      </p:pic>
      <p:sp>
        <p:nvSpPr>
          <p:cNvPr id="6" name="Formula body"/>
          <p:cNvSpPr/>
          <p:nvPr/>
        </p:nvSpPr>
        <p:spPr>
          <a:xfrm>
            <a:off x="5349240" y="777240"/>
            <a:ext cx="3383280" cy="1600200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7" name="Formula title"/>
          <p:cNvSpPr txBox="1"/>
          <p:nvPr/>
        </p:nvSpPr>
        <p:spPr>
          <a:xfrm>
            <a:off x="5349240" y="777240"/>
            <a:ext cx="338328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Normalized log-variance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385816" y="1088136"/>
            <a:ext cx="3291840" cy="274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 band </a:t>
            </a:r>
            <a:r>
              <a:rPr lang="en-US" sz="1300" i="1" dirty="0">
                <a:solidFill>
                  <a:schemeClr val="tx1"/>
                </a:solidFill>
              </a:rPr>
              <a:t>b</a:t>
            </a:r>
            <a:r>
              <a:rPr lang="en-US" sz="1300" dirty="0">
                <a:solidFill>
                  <a:schemeClr val="tx1"/>
                </a:solidFill>
              </a:rPr>
              <a:t>, CSP filter </a:t>
            </a:r>
            <a:r>
              <a:rPr lang="en-US" sz="1300" i="1" dirty="0">
                <a:solidFill>
                  <a:schemeClr val="tx1"/>
                </a:solidFill>
              </a:rPr>
              <a:t>i</a:t>
            </a:r>
            <a:r>
              <a:rPr lang="en-US" sz="1300" dirty="0">
                <a:solidFill>
                  <a:schemeClr val="tx1"/>
                </a:solidFill>
              </a:rPr>
              <a:t>, window </a:t>
            </a:r>
            <a:r>
              <a:rPr lang="en-US" sz="1300" i="1" dirty="0">
                <a:solidFill>
                  <a:schemeClr val="tx1"/>
                </a:solidFill>
              </a:rPr>
              <a:t>w</a:t>
            </a:r>
            <a:r>
              <a:rPr lang="en-US" sz="1300" dirty="0">
                <a:solidFill>
                  <a:schemeClr val="tx1"/>
                </a:solidFill>
              </a:rPr>
              <a:t>:</a:t>
            </a:r>
            <a:endParaRPr lang="en-US" sz="1300" dirty="0"/>
          </a:p>
        </p:txBody>
      </p:sp>
      <p:pic>
        <p:nvPicPr>
          <p:cNvPr id="9" name="Image 1" descr="f_{b,i,w} = log of var(z_{b,i}[w]) divided by the sum over j = 1..4 of var(z_{b,j}[w]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40" y="1417320"/>
            <a:ext cx="2240280" cy="5491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85816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 [lecture p.59]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5349240" y="2514600"/>
            <a:ext cx="3383280" cy="20116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(400 − 50)/25 + 1 = 15 windows in 4 s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This step learns nothing, so it cannot leak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Then each feature is standardized with the training-fold mean and SD</a:t>
            </a:r>
            <a:r>
              <a:rPr lang="en-US" sz="1000" dirty="0">
                <a:solidFill>
                  <a:schemeClr val="tx2"/>
                </a:solidFill>
              </a:rPr>
              <a:t> [lecture p.31]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Quick LDA test: class information is not spread evenly in time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7315200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4/5</a:t>
            </a:r>
            <a:endParaRPr lang="en-US" sz="900" dirty="0"/>
          </a:p>
        </p:txBody>
      </p:sp>
      <p:pic>
        <p:nvPicPr>
          <p:cNvPr id="5" name="Image 0" descr="LDA validation accuracy per 0.5 s window vs time after cue, with lines for one 4 s window (82.0%) and all 15 windows together (84.7%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85800"/>
            <a:ext cx="5029200" cy="27157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532120" y="868680"/>
            <a:ext cx="3200400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accent4"/>
                </a:solidFill>
              </a:rPr>
              <a:t>One 0.5 s window</a:t>
            </a:r>
            <a:r>
              <a:rPr lang="en-US" sz="1250" dirty="0">
                <a:solidFill>
                  <a:schemeClr val="tx1"/>
                </a:solidFill>
              </a:rPr>
              <a:t> (36 numbers, one LDA per window): peaks at 0.75-1 s (75.5%), near 61% at both ends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accent2"/>
                </a:solidFill>
              </a:rPr>
              <a:t>One 4 s window</a:t>
            </a:r>
            <a:r>
              <a:rPr lang="en-US" sz="1250" dirty="0">
                <a:solidFill>
                  <a:schemeClr val="tx1"/>
                </a:solidFill>
              </a:rPr>
              <a:t> = whole trial, classic CSP (36 numbers): </a:t>
            </a:r>
            <a:r>
              <a:rPr lang="en-US" sz="1250" dirty="0">
                <a:solidFill>
                  <a:schemeClr val="accent2"/>
                </a:solidFill>
              </a:rPr>
              <a:t>82.0%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accent1"/>
                </a:solidFill>
              </a:rPr>
              <a:t>All 15 windows together</a:t>
            </a:r>
            <a:r>
              <a:rPr lang="en-US" sz="1250" dirty="0">
                <a:solidFill>
                  <a:schemeClr val="tx1"/>
                </a:solidFill>
              </a:rPr>
              <a:t> = our features (540 numbers): </a:t>
            </a:r>
            <a:r>
              <a:rPr lang="en-US" sz="1250" dirty="0">
                <a:solidFill>
                  <a:schemeClr val="accent1"/>
                </a:solidFill>
              </a:rPr>
              <a:t>84.7%</a:t>
            </a:r>
            <a:r>
              <a:rPr lang="en-US" sz="1250" dirty="0">
                <a:solidFill>
                  <a:schemeClr val="tx1"/>
                </a:solidFill>
              </a:rPr>
              <a:t>, better in 8 of 9 subjects</a:t>
            </a:r>
            <a:endParaRPr lang="en-US" sz="1250" dirty="0"/>
          </a:p>
        </p:txBody>
      </p:sp>
      <p:sp>
        <p:nvSpPr>
          <p:cNvPr id="7" name="Method body"/>
          <p:cNvSpPr/>
          <p:nvPr/>
        </p:nvSpPr>
        <p:spPr>
          <a:xfrm>
            <a:off x="411480" y="3566160"/>
            <a:ext cx="8321040" cy="1097280"/>
          </a:xfrm>
          <a:prstGeom prst="rect">
            <a:avLst/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8" name="Method title"/>
          <p:cNvSpPr txBox="1"/>
          <p:nvPr/>
        </p:nvSpPr>
        <p:spPr>
          <a:xfrm>
            <a:off x="411480" y="3566160"/>
            <a:ext cx="8321040" cy="256032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How we got these numbers</a:t>
            </a:r>
            <a:endParaRPr lang="en-US" sz="1200" dirty="0"/>
          </a:p>
        </p:txBody>
      </p:sp>
      <p:sp>
        <p:nvSpPr>
          <p:cNvPr id="9" name="Method text"/>
          <p:cNvSpPr txBox="1"/>
          <p:nvPr/>
        </p:nvSpPr>
        <p:spPr>
          <a:xfrm>
            <a:off x="448056" y="3858768"/>
            <a:ext cx="8247888" cy="7680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 simple shrinkage LDA, the classic classifier after CSP</a:t>
            </a:r>
            <a:r>
              <a:rPr lang="en-US" sz="800" dirty="0">
                <a:solidFill>
                  <a:schemeClr val="tx2"/>
                </a:solidFill>
              </a:rPr>
              <a:t> [lecture p.60]</a:t>
            </a:r>
            <a:r>
              <a:rPr lang="en-US" sz="1100" dirty="0">
                <a:solidFill>
                  <a:schemeClr val="tx1"/>
                </a:solidFill>
              </a:rPr>
              <a:t>, trained on our features before building HWNet. Same 5 folds as the real pipeline: fit on the training fold, score on the validation fold of session T, mean of 9 subjects (band = ±1 SE). Session E not used: </a:t>
            </a:r>
            <a:r>
              <a:rPr lang="en-US" sz="1100" dirty="0">
                <a:solidFill>
                  <a:schemeClr val="accent4"/>
                </a:solidFill>
              </a:rPr>
              <a:t>not test results</a:t>
            </a:r>
            <a:r>
              <a:rPr lang="en-US" sz="1100" dirty="0">
                <a:solidFill>
                  <a:schemeClr val="tx1"/>
                </a:solidFill>
              </a:rPr>
              <a:t>, not comparable with MixNet.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 the model sees: 36 features × 15 windows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5/5</a:t>
            </a:r>
            <a:endParaRPr lang="en-US" sz="900" dirty="0"/>
          </a:p>
        </p:txBody>
      </p:sp>
      <p:pic>
        <p:nvPicPr>
          <p:cNvPr id="5" name="Image 0" descr="Heatmap of right minus left class mean for 36 CSP features (9 bands x 4 filters) over 15 windows, in training SD un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4572000" cy="29817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120640" y="640080"/>
            <a:ext cx="3611880" cy="28803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Each cell: right minus left class mean, in training SD units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Strongest in </a:t>
            </a:r>
            <a:r>
              <a:rPr lang="en-US" sz="1300" dirty="0">
                <a:solidFill>
                  <a:schemeClr val="accent4"/>
                </a:solidFill>
              </a:rPr>
              <a:t>8-12 Hz (Mu)</a:t>
            </a:r>
            <a:r>
              <a:rPr lang="en-US" sz="1300" dirty="0">
                <a:solidFill>
                  <a:schemeClr val="tx1"/>
                </a:solidFill>
              </a:rPr>
              <a:t> and </a:t>
            </a:r>
            <a:r>
              <a:rPr lang="en-US" sz="1300" dirty="0">
                <a:solidFill>
                  <a:schemeClr val="accent4"/>
                </a:solidFill>
              </a:rPr>
              <a:t>20-24 Hz (beta)</a:t>
            </a:r>
            <a:r>
              <a:rPr lang="en-US" sz="1300" dirty="0">
                <a:solidFill>
                  <a:schemeClr val="tx1"/>
                </a:solidFill>
              </a:rPr>
              <a:t>, from about 0.5 to 2.5 s, the bands where ERD/ERS shows up</a:t>
            </a:r>
            <a:r>
              <a:rPr lang="en-US" sz="900" dirty="0">
                <a:solidFill>
                  <a:schemeClr val="tx2"/>
                </a:solidFill>
              </a:rPr>
              <a:t> [lecture p.51]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Rows alternate in sign because CSP takes filters from </a:t>
            </a:r>
            <a:r>
              <a:rPr lang="en-US" sz="1300" dirty="0">
                <a:solidFill>
                  <a:schemeClr val="accent4"/>
                </a:solidFill>
              </a:rPr>
              <a:t>both ends</a:t>
            </a:r>
            <a:r>
              <a:rPr lang="en-US" sz="1300" dirty="0">
                <a:solidFill>
                  <a:schemeClr val="tx1"/>
                </a:solidFill>
              </a:rPr>
              <a:t>: one end has more power for left hand, the other for right</a:t>
            </a:r>
            <a:r>
              <a:rPr lang="en-US" sz="900" dirty="0">
                <a:solidFill>
                  <a:schemeClr val="tx2"/>
                </a:solidFill>
              </a:rPr>
              <a:t> [lecture p.57]</a:t>
            </a:r>
            <a:endParaRPr lang="en-US" sz="1300" dirty="0"/>
          </a:p>
        </p:txBody>
      </p:sp>
      <p:sp>
        <p:nvSpPr>
          <p:cNvPr id="7" name="Takeaway body"/>
          <p:cNvSpPr/>
          <p:nvPr/>
        </p:nvSpPr>
        <p:spPr>
          <a:xfrm>
            <a:off x="5120640" y="3611880"/>
            <a:ext cx="3611880" cy="868680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8" name="Takeaway title"/>
          <p:cNvSpPr txBox="1"/>
          <p:nvPr/>
        </p:nvSpPr>
        <p:spPr>
          <a:xfrm>
            <a:off x="5120640" y="3611880"/>
            <a:ext cx="361188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Takeaway</a:t>
            </a:r>
            <a:endParaRPr lang="en-US" sz="1300" dirty="0"/>
          </a:p>
        </p:txBody>
      </p:sp>
      <p:sp>
        <p:nvSpPr>
          <p:cNvPr id="9" name="Takeaway text"/>
          <p:cNvSpPr txBox="1"/>
          <p:nvPr/>
        </p:nvSpPr>
        <p:spPr>
          <a:xfrm>
            <a:off x="5157216" y="3922776"/>
            <a:ext cx="3538728" cy="5212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Each trial becomes </a:t>
            </a:r>
            <a:r>
              <a:rPr lang="en-US" sz="1300" i="1" dirty="0">
                <a:solidFill>
                  <a:schemeClr val="tx1"/>
                </a:solidFill>
              </a:rPr>
              <a:t>which band</a:t>
            </a:r>
            <a:r>
              <a:rPr lang="en-US" sz="1300" dirty="0">
                <a:solidFill>
                  <a:schemeClr val="tx1"/>
                </a:solidFill>
              </a:rPr>
              <a:t>, </a:t>
            </a:r>
            <a:r>
              <a:rPr lang="en-US" sz="1300" i="1" dirty="0">
                <a:solidFill>
                  <a:schemeClr val="tx1"/>
                </a:solidFill>
              </a:rPr>
              <a:t>which spatial filter</a:t>
            </a:r>
            <a:r>
              <a:rPr lang="en-US" sz="1300" dirty="0">
                <a:solidFill>
                  <a:schemeClr val="tx1"/>
                </a:solidFill>
              </a:rPr>
              <a:t> and </a:t>
            </a:r>
            <a:r>
              <a:rPr lang="en-US" sz="1300" i="1" dirty="0">
                <a:solidFill>
                  <a:schemeClr val="tx1"/>
                </a:solidFill>
              </a:rPr>
              <a:t>when</a:t>
            </a:r>
            <a:r>
              <a:rPr lang="en-US" sz="1300" dirty="0">
                <a:solidFill>
                  <a:schemeClr val="tx1"/>
                </a:solidFill>
              </a:rPr>
              <a:t>, in 540 numbers.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47731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All 144 session T trials per subject, averaged over 9 subjects. Session E not used.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Backup: settings and data notes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77240"/>
            <a:ext cx="4754880" cy="3200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settings live in 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experiments/prep_HW.py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46634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280160"/>
                <a:gridCol w="16002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win_len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win_step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s, 0.25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s, 4.0 s (classic)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n_components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(MixNet size)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norm_logvar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bands, 4-40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11480" y="2880360"/>
            <a:ext cx="4663440" cy="5486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Quick LDA check (validation, session T): ours 84.7%, classic 82.0%, </a:t>
            </a: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norm_logvar=False</a:t>
            </a:r>
            <a:r>
              <a:rPr lang="en-US" sz="1050" dirty="0">
                <a:solidFill>
                  <a:schemeClr val="tx1"/>
                </a:solidFill>
              </a:rPr>
              <a:t> 85.0%, </a:t>
            </a: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n_components=2</a:t>
            </a:r>
            <a:r>
              <a:rPr lang="en-US" sz="1050" dirty="0">
                <a:solidFill>
                  <a:schemeClr val="tx1"/>
                </a:solidFill>
              </a:rPr>
              <a:t> not run yet.</a:t>
            </a:r>
            <a:endParaRPr lang="en-US" sz="1050" dirty="0"/>
          </a:p>
        </p:txBody>
      </p:sp>
      <p:sp>
        <p:nvSpPr>
          <p:cNvPr id="6" name="Data notes body"/>
          <p:cNvSpPr/>
          <p:nvPr/>
        </p:nvSpPr>
        <p:spPr>
          <a:xfrm>
            <a:off x="5349240" y="777240"/>
            <a:ext cx="3383280" cy="2377440"/>
          </a:xfrm>
          <a:prstGeom prst="rect">
            <a:avLst/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7" name="Data notes title"/>
          <p:cNvSpPr txBox="1"/>
          <p:nvPr/>
        </p:nvSpPr>
        <p:spPr>
          <a:xfrm>
            <a:off x="5349240" y="777240"/>
            <a:ext cx="3383280" cy="2743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Data notes</a:t>
            </a:r>
            <a:endParaRPr lang="en-US" sz="1300" dirty="0"/>
          </a:p>
        </p:txBody>
      </p:sp>
      <p:sp>
        <p:nvSpPr>
          <p:cNvPr id="8" name="Data notes text"/>
          <p:cNvSpPr txBox="1"/>
          <p:nvPr/>
        </p:nvSpPr>
        <p:spPr>
          <a:xfrm>
            <a:off x="5385816" y="1088136"/>
            <a:ext cx="3310128" cy="20299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50 Hz line noise: removed. After resampling to 100 Hz it sits at the top edge, where every band filter blocks it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Drift and eye movement below 4 Hz: removed by the lowest band edge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 removed: blinks in 4-8 Hz, muscle noise in beta, and trials marked as artifacts (2 to 36 of 144 per subject)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S3 walkthrough (1/5): raw EEG, 20 × 400</a:t>
            </a:r>
            <a:endParaRPr lang="en-US" sz="1800" dirty="0"/>
          </a:p>
        </p:txBody>
      </p:sp>
      <p:pic>
        <p:nvPicPr>
          <p:cNvPr id="3" name="Image 0" descr="Raw EEG of one left hand and one right hand trial, 20 channels over 4 s, with C3 and C4 in colo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85800"/>
            <a:ext cx="5486400" cy="33147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685800"/>
            <a:ext cx="2743200" cy="33147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One </a:t>
            </a:r>
            <a:r>
              <a:rPr lang="en-US" sz="1350" dirty="0">
                <a:solidFill>
                  <a:schemeClr val="accent2"/>
                </a:solidFill>
              </a:rPr>
              <a:t>left hand</a:t>
            </a:r>
            <a:r>
              <a:rPr lang="en-US" sz="1350" dirty="0">
                <a:solidFill>
                  <a:schemeClr val="tx1"/>
                </a:solidFill>
              </a:rPr>
              <a:t> and one </a:t>
            </a:r>
            <a:r>
              <a:rPr lang="en-US" sz="1350" dirty="0">
                <a:solidFill>
                  <a:schemeClr val="accent1"/>
                </a:solidFill>
              </a:rPr>
              <a:t>right hand</a:t>
            </a:r>
            <a:r>
              <a:rPr lang="en-US" sz="1350" dirty="0">
                <a:solidFill>
                  <a:schemeClr val="tx1"/>
                </a:solidFill>
              </a:rPr>
              <a:t> trial: 20 channels, 4 s at 100 Hz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C3 and C4 (over the hand areas) in colour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By eye the two classes look the same: the difference is hidden in </a:t>
            </a:r>
            <a:r>
              <a:rPr lang="en-US" sz="1350" dirty="0">
                <a:solidFill>
                  <a:schemeClr val="accent4"/>
                </a:solidFill>
              </a:rPr>
              <a:t>band power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Subject 3, session T only (144 trials, 72 per class). Example trials = the trial closest to its class mean. CSP and scaler fit on all session T trials of S3 for this picture; no accuracy is computed here.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S3 walkthrough (2/5): filter bank, 9 × 20 × 400</a:t>
            </a:r>
            <a:endParaRPr lang="en-US" sz="1800" dirty="0"/>
          </a:p>
        </p:txBody>
      </p:sp>
      <p:pic>
        <p:nvPicPr>
          <p:cNvPr id="3" name="Image 0" descr="Left: C4 of the left hand trial in 9 bands. Right: 8-12 Hz mean log-variance at C3 and C4 per c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85800"/>
            <a:ext cx="5486400" cy="33147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685800"/>
            <a:ext cx="2743200" cy="33147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Left: C4 of the left hand trial split into 9 bands (each trace scaled on its own)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Right: 8-12 Hz power is lower at </a:t>
            </a:r>
            <a:r>
              <a:rPr lang="en-US" sz="1350" dirty="0">
                <a:solidFill>
                  <a:schemeClr val="accent4"/>
                </a:solidFill>
              </a:rPr>
              <a:t>C4 for left hand</a:t>
            </a:r>
            <a:r>
              <a:rPr lang="en-US" sz="1350" dirty="0">
                <a:solidFill>
                  <a:schemeClr val="tx1"/>
                </a:solidFill>
              </a:rPr>
              <a:t> and lower at </a:t>
            </a:r>
            <a:r>
              <a:rPr lang="en-US" sz="1350" dirty="0">
                <a:solidFill>
                  <a:schemeClr val="accent4"/>
                </a:solidFill>
              </a:rPr>
              <a:t>C3 for right hand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That is contralateral ERD</a:t>
            </a:r>
            <a:r>
              <a:rPr lang="en-US" sz="1000" dirty="0">
                <a:solidFill>
                  <a:schemeClr val="tx2"/>
                </a:solidFill>
              </a:rPr>
              <a:t> [lecture p.51]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Subject 3, session T only (144 trials, 72 per class). Example trials = the trial closest to its class mean. CSP and scaler fit on all session T trials of S3 for this picture; no accuracy is computed here.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S3 walkthrough (3/5): CSP per band, 36 × 400 (8-12 Hz shown)</a:t>
            </a:r>
            <a:endParaRPr lang="en-US" sz="1800" dirty="0"/>
          </a:p>
        </p:txBody>
      </p:sp>
      <p:pic>
        <p:nvPicPr>
          <p:cNvPr id="3" name="Image 0" descr="Spatial patterns of two 8-12 Hz CSP filters and their output for the left and right hand example tria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85800"/>
            <a:ext cx="5486400" cy="33147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685800"/>
            <a:ext cx="2743200" cy="33147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Maps: spatial pattern of each filter, i.e. where it looks</a:t>
            </a:r>
            <a:r>
              <a:rPr lang="en-US" sz="900" dirty="0">
                <a:solidFill>
                  <a:schemeClr val="tx2"/>
                </a:solidFill>
              </a:rPr>
              <a:t> [lecture p.58]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Filter 1 gives more power for left hand, filter 2 for right hand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Filter 1 shows the gap clearly in these two trials; filter 2 less so, single trials are noisy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20 channels become 4 signals per band; time is untouched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Subject 3, session T only (144 trials, 72 per class). Example trials = the trial closest to its class mean. CSP and scaler fit on all session T trials of S3 for this picture; no accuracy is computed here.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S3 walkthrough (4/5): windowed log-variance, 36 × 15</a:t>
            </a:r>
            <a:endParaRPr lang="en-US" sz="1800" dirty="0"/>
          </a:p>
        </p:txBody>
      </p:sp>
      <p:pic>
        <p:nvPicPr>
          <p:cNvPr id="3" name="Image 0" descr="Standardized 36 x 15 feature maps of the left hand and right hand example tria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85800"/>
            <a:ext cx="4572000" cy="33675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685800"/>
            <a:ext cx="3657600" cy="336756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same two trials as the model sees them: 36 rows (9 bands × 4 filters) × 15 windows, standardized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trial alone is noisy; the class difference shows up only across many trials (next slide)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Subject 3, session T only (144 trials, 72 per class). Example trials = the trial closest to its class mean. CSP and scaler fit on all session T trials of S3 for this picture; no accuracy is computed here.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S3 walkthrough (5/5): do the features separate the classes?</a:t>
            </a:r>
            <a:endParaRPr lang="en-US" sz="1800" dirty="0"/>
          </a:p>
        </p:txBody>
      </p:sp>
      <p:pic>
        <p:nvPicPr>
          <p:cNvPr id="3" name="Image 0" descr="Class means of the two 8-12 Hz CSP filters over time, and a scatter of every trial at the 1.0 s wind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640080"/>
            <a:ext cx="5852160" cy="25884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3301687"/>
            <a:ext cx="841248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Class means of the two 8-12 Hz filters: the gap is small right after the cue and grows within about 1 s, the timing our windows keep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Right: every trial at the 1.0 s window, using only 2 of the 540 numbers, already mostly separable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S3 is one of the easier subjects (quick LDA check: 95.8%), so other subjects look less clean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Subject 3, session T only (144 trials, 72 per class). Example trials = the trial closest to its class mean. CSP and scaler fit on all session T trials of S3 for this picture; no accuracy is computed here.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Part 2: Model Development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9385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HWNet: a compact temporal CNN on the 36 × 15 features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ML Frontiers, VISTEC · architecture, hyperparameter tuning, benchmark against MixNet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HWNet: two small temporal conv blocks, 5,362 parameters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1306286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1/7</a:t>
            </a:r>
            <a:endParaRPr lang="en-US" sz="900" dirty="0"/>
          </a:p>
        </p:txBody>
      </p:sp>
      <p:sp>
        <p:nvSpPr>
          <p:cNvPr id="5" name="step Input"/>
          <p:cNvSpPr/>
          <p:nvPr/>
        </p:nvSpPr>
        <p:spPr>
          <a:xfrm>
            <a:off x="411480" y="1051560"/>
            <a:ext cx="1737360" cy="868680"/>
          </a:xfrm>
          <a:prstGeom prst="roundRect">
            <a:avLst>
              <a:gd name="adj" fmla="val 6316"/>
            </a:avLst>
          </a:prstGeom>
          <a:solidFill>
            <a:schemeClr val="accent5">
              <a:alpha val="10000"/>
            </a:schemeClr>
          </a:solidFill>
          <a:ln w="19050">
            <a:solidFill>
              <a:schemeClr val="accent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36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× 15 windows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(from Part 1)</a:t>
            </a:r>
            <a:endParaRPr lang="en-US" sz="1100" dirty="0"/>
          </a:p>
        </p:txBody>
      </p:sp>
      <p:sp>
        <p:nvSpPr>
          <p:cNvPr id="6" name="step Block 1"/>
          <p:cNvSpPr/>
          <p:nvPr/>
        </p:nvSpPr>
        <p:spPr>
          <a:xfrm>
            <a:off x="2606040" y="1051560"/>
            <a:ext cx="1737360" cy="868680"/>
          </a:xfrm>
          <a:prstGeom prst="roundRect">
            <a:avLst>
              <a:gd name="adj" fmla="val 6316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Block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Conv 1×3, 32 filters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BatchNorm + ELU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Dropout 0.5</a:t>
            </a:r>
            <a:endParaRPr lang="en-US" sz="1100" dirty="0"/>
          </a:p>
        </p:txBody>
      </p:sp>
      <p:sp>
        <p:nvSpPr>
          <p:cNvPr id="7" name="step Block 2"/>
          <p:cNvSpPr/>
          <p:nvPr/>
        </p:nvSpPr>
        <p:spPr>
          <a:xfrm>
            <a:off x="4800600" y="1051560"/>
            <a:ext cx="1737360" cy="868680"/>
          </a:xfrm>
          <a:prstGeom prst="roundRect">
            <a:avLst>
              <a:gd name="adj" fmla="val 6316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Block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Conv 1×3, 16 filters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BatchNorm + ELU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AvgPool 2, Dropout 0.5</a:t>
            </a:r>
            <a:endParaRPr lang="en-US" sz="1100" dirty="0"/>
          </a:p>
        </p:txBody>
      </p:sp>
      <p:sp>
        <p:nvSpPr>
          <p:cNvPr id="8" name="step Classifier"/>
          <p:cNvSpPr/>
          <p:nvPr/>
        </p:nvSpPr>
        <p:spPr>
          <a:xfrm>
            <a:off x="6995160" y="1051560"/>
            <a:ext cx="1737360" cy="868680"/>
          </a:xfrm>
          <a:prstGeom prst="roundRect">
            <a:avLst>
              <a:gd name="adj" fmla="val 6316"/>
            </a:avLst>
          </a:prstGeom>
          <a:solidFill>
            <a:schemeClr val="accent5">
              <a:alpha val="10000"/>
            </a:schemeClr>
          </a:solidFill>
          <a:ln w="19050">
            <a:solidFill>
              <a:schemeClr val="accent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Classifier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Flatten (112)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Dense 2, max-norm 0.5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Softmax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21992" y="1485900"/>
            <a:ext cx="31089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16552" y="1485900"/>
            <a:ext cx="31089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11112" y="1485900"/>
            <a:ext cx="31089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11480" y="19568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15 × 36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19568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15 × 32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9568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7 × 16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19568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left / right</a:t>
            </a:r>
            <a:endParaRPr lang="en-US" sz="1000" dirty="0"/>
          </a:p>
        </p:txBody>
      </p:sp>
      <p:sp>
        <p:nvSpPr>
          <p:cNvPr id="16" name="brace temporal"/>
          <p:cNvSpPr/>
          <p:nvPr/>
        </p:nvSpPr>
        <p:spPr>
          <a:xfrm rot="5400000">
            <a:off x="4498848" y="-1069848"/>
            <a:ext cx="146304" cy="3931920"/>
          </a:xfrm>
          <a:prstGeom prst="leftBrac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06040" y="6035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kernels slide over time only: 3 windows = 1.0 s</a:t>
            </a:r>
            <a:endParaRPr lang="en-US" sz="1100" dirty="0"/>
          </a:p>
        </p:txBody>
      </p:sp>
      <p:sp>
        <p:nvSpPr>
          <p:cNvPr id="18" name="Key design choices body"/>
          <p:cNvSpPr/>
          <p:nvPr/>
        </p:nvSpPr>
        <p:spPr>
          <a:xfrm>
            <a:off x="411480" y="2423160"/>
            <a:ext cx="4572000" cy="1783080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19" name="Key design choices title"/>
          <p:cNvSpPr txBox="1"/>
          <p:nvPr/>
        </p:nvSpPr>
        <p:spPr>
          <a:xfrm>
            <a:off x="411480" y="2423160"/>
            <a:ext cx="457200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Key design choices</a:t>
            </a:r>
            <a:endParaRPr lang="en-US" sz="1300" dirty="0"/>
          </a:p>
        </p:txBody>
      </p:sp>
      <p:sp>
        <p:nvSpPr>
          <p:cNvPr id="20" name="Key design choices text"/>
          <p:cNvSpPr txBox="1"/>
          <p:nvPr/>
        </p:nvSpPr>
        <p:spPr>
          <a:xfrm>
            <a:off x="448056" y="2734056"/>
            <a:ext cx="4498848" cy="14356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Matched receptive field:</a:t>
            </a:r>
            <a:r>
              <a:rPr lang="en-US" sz="1250" dirty="0">
                <a:solidFill>
                  <a:schemeClr val="tx1"/>
                </a:solidFill>
              </a:rPr>
              <a:t> a 1×3 kernel spans 3 windows, 0.5 s + 2 × 0.25 s = </a:t>
            </a:r>
            <a:r>
              <a:rPr lang="en-US" sz="1250" dirty="0">
                <a:solidFill>
                  <a:schemeClr val="accent4"/>
                </a:solidFill>
              </a:rPr>
              <a:t>1.0 s</a:t>
            </a:r>
            <a:r>
              <a:rPr lang="en-US" sz="1250" dirty="0">
                <a:solidFill>
                  <a:schemeClr val="tx1"/>
                </a:solidFill>
              </a:rPr>
              <a:t>, about one ERD burst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Heavy regularization:</a:t>
            </a:r>
            <a:r>
              <a:rPr lang="en-US" sz="1250" dirty="0">
                <a:solidFill>
                  <a:schemeClr val="tx1"/>
                </a:solidFill>
              </a:rPr>
              <a:t> two 50% dropouts, batch norm, max-norm(0.5) on the output layer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Single-task training:</a:t>
            </a:r>
            <a:r>
              <a:rPr lang="en-US" sz="1250" dirty="0">
                <a:solidFill>
                  <a:schemeClr val="tx1"/>
                </a:solidFill>
              </a:rPr>
              <a:t> cross-entropy only, no reconstruction or triplet loss to weight</a:t>
            </a:r>
            <a:endParaRPr lang="en-US" sz="1250" dirty="0"/>
          </a:p>
        </p:txBody>
      </p:sp>
      <p:sp>
        <p:nvSpPr>
          <p:cNvPr id="21" name="Training setup body"/>
          <p:cNvSpPr/>
          <p:nvPr/>
        </p:nvSpPr>
        <p:spPr>
          <a:xfrm>
            <a:off x="5257800" y="2423160"/>
            <a:ext cx="3474720" cy="1783080"/>
          </a:xfrm>
          <a:prstGeom prst="rect">
            <a:avLst/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22" name="Training setup title"/>
          <p:cNvSpPr txBox="1"/>
          <p:nvPr/>
        </p:nvSpPr>
        <p:spPr>
          <a:xfrm>
            <a:off x="5257800" y="2423160"/>
            <a:ext cx="3474720" cy="2743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Training setup</a:t>
            </a:r>
            <a:endParaRPr lang="en-US" sz="1300" dirty="0"/>
          </a:p>
        </p:txBody>
      </p:sp>
      <p:sp>
        <p:nvSpPr>
          <p:cNvPr id="23" name="Training setup text"/>
          <p:cNvSpPr txBox="1"/>
          <p:nvPr/>
        </p:nvSpPr>
        <p:spPr>
          <a:xfrm>
            <a:off x="5294376" y="2734056"/>
            <a:ext cx="3401568" cy="14356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Adam, lr 0.001, batch 32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lr halved on plateau (patience 5)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Early stop on val loss (patience 20)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5-fold CV on session T, test on session 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HWNet vs MixNet: ~8× fewer parameters, one loss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2612571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2/7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777240"/>
          <a:ext cx="83210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240280"/>
                <a:gridCol w="2194560"/>
                <a:gridCol w="20116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MixNet (baseline)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</a:rPr>
                        <a:t>HWNet (ours)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Why it matters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Input per trial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CSP time series, 18 × 400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band power, 36 × 15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540 vs 7,200 numbers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Trainable parameters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44,777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5,362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less room to overfit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Loss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MSE + triplet + cross-entropy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cross-entropy only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loss weights to tune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Temporal kernels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64 and 32 samples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 windows (1.0 s)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matches ERD timing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Training time, 9 subjects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~18 min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~4.5 min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~4× faster to iterate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Why MixNet needs more body"/>
          <p:cNvSpPr/>
          <p:nvPr/>
        </p:nvSpPr>
        <p:spPr>
          <a:xfrm>
            <a:off x="411480" y="3017520"/>
            <a:ext cx="4937760" cy="1371600"/>
          </a:xfrm>
          <a:prstGeom prst="rect">
            <a:avLst/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7" name="Why MixNet needs more title"/>
          <p:cNvSpPr txBox="1"/>
          <p:nvPr/>
        </p:nvSpPr>
        <p:spPr>
          <a:xfrm>
            <a:off x="411480" y="3017520"/>
            <a:ext cx="4937760" cy="2743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Why MixNet needs more</a:t>
            </a:r>
            <a:endParaRPr lang="en-US" sz="1300" dirty="0"/>
          </a:p>
        </p:txBody>
      </p:sp>
      <p:sp>
        <p:nvSpPr>
          <p:cNvPr id="8" name="Why MixNet needs more text"/>
          <p:cNvSpPr txBox="1"/>
          <p:nvPr/>
        </p:nvSpPr>
        <p:spPr>
          <a:xfrm>
            <a:off x="448056" y="3328416"/>
            <a:ext cx="4864608" cy="10241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Starts from long time series, so it needs big kernels and many filters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Uses an autoencoder and a triplet loss to keep that capacity from overfitting</a:t>
            </a:r>
            <a:endParaRPr lang="en-US" sz="1250" dirty="0"/>
          </a:p>
        </p:txBody>
      </p:sp>
      <p:sp>
        <p:nvSpPr>
          <p:cNvPr id="9" name="Takeaway body"/>
          <p:cNvSpPr/>
          <p:nvPr/>
        </p:nvSpPr>
        <p:spPr>
          <a:xfrm>
            <a:off x="5577840" y="3017520"/>
            <a:ext cx="3154680" cy="1371600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10" name="Takeaway title"/>
          <p:cNvSpPr txBox="1"/>
          <p:nvPr/>
        </p:nvSpPr>
        <p:spPr>
          <a:xfrm>
            <a:off x="5577840" y="3017520"/>
            <a:ext cx="315468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Takeaway</a:t>
            </a:r>
            <a:endParaRPr lang="en-US" sz="1300" dirty="0"/>
          </a:p>
        </p:txBody>
      </p:sp>
      <p:sp>
        <p:nvSpPr>
          <p:cNvPr id="11" name="Takeaway text"/>
          <p:cNvSpPr txBox="1"/>
          <p:nvPr/>
        </p:nvSpPr>
        <p:spPr>
          <a:xfrm>
            <a:off x="5614416" y="3328416"/>
            <a:ext cx="3081528" cy="10241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Part 1 already does the spatial and spectral work, so a small regularized CNN is enough.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47731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Training time: all 9 subjects × 5 folds on one GPU (RTX 4090).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Tuning, stage 1: 11 configs, one change at a time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3918857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3/7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64008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0" y="685800"/>
            <a:ext cx="3246120" cy="2606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Started from the first HWNet and changed </a:t>
            </a:r>
            <a:r>
              <a:rPr lang="en-US" sz="1250" dirty="0">
                <a:solidFill>
                  <a:schemeClr val="accent4"/>
                </a:solidFill>
              </a:rPr>
              <a:t>one setting at a time</a:t>
            </a:r>
            <a:r>
              <a:rPr lang="en-US" sz="1250" dirty="0">
                <a:solidFill>
                  <a:schemeClr val="tx1"/>
                </a:solidFill>
              </a:rPr>
              <a:t>: kernel length k, dropout, learning rate, batch size, filter counts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Screened on 3 subjects (S01, S05, S08) × 5 folds, </a:t>
            </a:r>
            <a:r>
              <a:rPr lang="en-US" sz="1250" dirty="0">
                <a:solidFill>
                  <a:schemeClr val="accent4"/>
                </a:solidFill>
              </a:rPr>
              <a:t>session T validation only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Lower lr, smaller batch and 16/8 filters: all worse. 48/24 filters: close, but least stable across folds (SD 8.6 pp)</a:t>
            </a:r>
            <a:endParaRPr lang="en-US" sz="1250" dirty="0"/>
          </a:p>
        </p:txBody>
      </p:sp>
      <p:sp>
        <p:nvSpPr>
          <p:cNvPr id="7" name="Sent to stage 2 (teal) body"/>
          <p:cNvSpPr/>
          <p:nvPr/>
        </p:nvSpPr>
        <p:spPr>
          <a:xfrm>
            <a:off x="5486400" y="3474720"/>
            <a:ext cx="3246120" cy="960120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8" name="Sent to stage 2 (teal) title"/>
          <p:cNvSpPr txBox="1"/>
          <p:nvPr/>
        </p:nvSpPr>
        <p:spPr>
          <a:xfrm>
            <a:off x="5486400" y="3474720"/>
            <a:ext cx="324612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Sent to stage 2 (teal)</a:t>
            </a:r>
            <a:endParaRPr lang="en-US" sz="1300" dirty="0"/>
          </a:p>
        </p:txBody>
      </p:sp>
      <p:sp>
        <p:nvSpPr>
          <p:cNvPr id="9" name="Sent to stage 2 (teal) text"/>
          <p:cNvSpPr txBox="1"/>
          <p:nvPr/>
        </p:nvSpPr>
        <p:spPr>
          <a:xfrm>
            <a:off x="5522976" y="3785616"/>
            <a:ext cx="3172968" cy="61264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k = 2, 3, 5 and dropout 0.5, 0.6: all within 0.7 pp of the baseline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47731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Mean validation accuracy over 15 folds (S01, S05, S08), session T. Session E not used.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Tuning, stage 2: top 5 on all 9 subjects, picked on validation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5225143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4/7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777240"/>
          <a:ext cx="50292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685800"/>
                <a:gridCol w="685800"/>
                <a:gridCol w="8686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Kernel k (span)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Dropout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Params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Val acc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Val F1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3 (1.0 s)  ← selected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0.5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5,362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83.87%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0.836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 (1.0 s)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5,362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83.79%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0.835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 (1.5 s)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8,690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83.50%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0.833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 (0.75 s)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4,210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82.85%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0.826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 (0.75 s)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4,210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82.85%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0.825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11480" y="2788920"/>
            <a:ext cx="5029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Time span of one kernel: 0.5 s + (k − 1) × 0.25 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k = 2 (0.75 s) is last on both metrics: </a:t>
            </a:r>
            <a:r>
              <a:rPr lang="en-US" sz="1250" dirty="0">
                <a:solidFill>
                  <a:schemeClr val="accent4"/>
                </a:solidFill>
              </a:rPr>
              <a:t>too little context</a:t>
            </a:r>
            <a:endParaRPr lang="en-US" sz="1250" dirty="0"/>
          </a:p>
        </p:txBody>
      </p:sp>
      <p:sp>
        <p:nvSpPr>
          <p:cNvPr id="7" name="Selection rule body"/>
          <p:cNvSpPr/>
          <p:nvPr/>
        </p:nvSpPr>
        <p:spPr>
          <a:xfrm>
            <a:off x="5669280" y="777240"/>
            <a:ext cx="3063240" cy="1417320"/>
          </a:xfrm>
          <a:prstGeom prst="rect">
            <a:avLst/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8" name="Selection rule title"/>
          <p:cNvSpPr txBox="1"/>
          <p:nvPr/>
        </p:nvSpPr>
        <p:spPr>
          <a:xfrm>
            <a:off x="5669280" y="777240"/>
            <a:ext cx="3063240" cy="2743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Selection rule</a:t>
            </a:r>
            <a:endParaRPr lang="en-US" sz="1300" dirty="0"/>
          </a:p>
        </p:txBody>
      </p:sp>
      <p:sp>
        <p:nvSpPr>
          <p:cNvPr id="9" name="Selection rule text"/>
          <p:cNvSpPr txBox="1"/>
          <p:nvPr/>
        </p:nvSpPr>
        <p:spPr>
          <a:xfrm>
            <a:off x="5705856" y="1088136"/>
            <a:ext cx="2990088" cy="106984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Highest mean validation macro-F1 over 9 subjects × 5 folds of session T, with accuracy as a check. Session E is not used to choose.</a:t>
            </a:r>
            <a:endParaRPr lang="en-US" sz="1250" dirty="0"/>
          </a:p>
        </p:txBody>
      </p:sp>
      <p:sp>
        <p:nvSpPr>
          <p:cNvPr id="10" name="Takeaway body"/>
          <p:cNvSpPr/>
          <p:nvPr/>
        </p:nvSpPr>
        <p:spPr>
          <a:xfrm>
            <a:off x="5669280" y="2423160"/>
            <a:ext cx="3063240" cy="1234440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11" name="Takeaway title"/>
          <p:cNvSpPr txBox="1"/>
          <p:nvPr/>
        </p:nvSpPr>
        <p:spPr>
          <a:xfrm>
            <a:off x="5669280" y="2423160"/>
            <a:ext cx="306324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Takeaway</a:t>
            </a:r>
            <a:endParaRPr lang="en-US" sz="1300" dirty="0"/>
          </a:p>
        </p:txBody>
      </p:sp>
      <p:sp>
        <p:nvSpPr>
          <p:cNvPr id="12" name="Takeaway text"/>
          <p:cNvSpPr txBox="1"/>
          <p:nvPr/>
        </p:nvSpPr>
        <p:spPr>
          <a:xfrm>
            <a:off x="5705856" y="2734056"/>
            <a:ext cx="2990088" cy="8869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The top 3 are within </a:t>
            </a:r>
            <a:r>
              <a:rPr lang="en-US" sz="1250" dirty="0">
                <a:solidFill>
                  <a:schemeClr val="accent4"/>
                </a:solidFill>
              </a:rPr>
              <a:t>0.4 pp</a:t>
            </a:r>
            <a:r>
              <a:rPr lang="en-US" sz="1250" dirty="0">
                <a:solidFill>
                  <a:schemeClr val="tx1"/>
                </a:solidFill>
              </a:rPr>
              <a:t>. Tuning confirms the first design (k = 3, dropout 0.5) rather than replacing it.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47731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Validation = session T folds, mean over 45 folds (9 subjects × 5). F1 = macro-F1.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Session E test: 78.3% vs MixNet's 76.5%, gap not significant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6531429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5/7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77724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1691640"/>
                <a:gridCol w="1188720"/>
                <a:gridCol w="16916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Chosen by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Test accuracy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Macro-F1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Trainable params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MixNet (baseline)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paper setup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76.53 ± 15.10%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0.753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44,777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HWNet, first run (k = 3)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first design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77.13 ± 15.02%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0.757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5,362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HWNet, selected (k = 3)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stage 2 validation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78.33 ± 14.52%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0.771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5,362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chemeClr val="accent5"/>
                          </a:solidFill>
                        </a:rPr>
                        <a:t>HWNet, k = 5 (ablation)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chemeClr val="accent5"/>
                          </a:solidFill>
                        </a:rPr>
                        <a:t>not selected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chemeClr val="accent5"/>
                          </a:solidFill>
                        </a:rPr>
                        <a:t>78.64 ± 14.78%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chemeClr val="accent5"/>
                          </a:solidFill>
                        </a:rPr>
                        <a:t>0.776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chemeClr val="accent5"/>
                          </a:solidFill>
                        </a:rPr>
                        <a:t>8,690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Is the gap real? (selected HWNet vs MixNet) body"/>
          <p:cNvSpPr/>
          <p:nvPr/>
        </p:nvSpPr>
        <p:spPr>
          <a:xfrm>
            <a:off x="411480" y="2514600"/>
            <a:ext cx="4480560" cy="1600200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7" name="Is the gap real? (selected HWNet vs MixNet) title"/>
          <p:cNvSpPr txBox="1"/>
          <p:nvPr/>
        </p:nvSpPr>
        <p:spPr>
          <a:xfrm>
            <a:off x="411480" y="2514600"/>
            <a:ext cx="448056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Is the gap real? (selected HWNet vs MixNet)</a:t>
            </a:r>
            <a:endParaRPr lang="en-US" sz="1300" dirty="0"/>
          </a:p>
        </p:txBody>
      </p:sp>
      <p:sp>
        <p:nvSpPr>
          <p:cNvPr id="8" name="Is the gap real? (selected HWNet vs MixNet) text"/>
          <p:cNvSpPr txBox="1"/>
          <p:nvPr/>
        </p:nvSpPr>
        <p:spPr>
          <a:xfrm>
            <a:off x="448056" y="2825496"/>
            <a:ext cx="4407408" cy="12527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+1.8 pp accuracy, +1.8 pp macro-F1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Paired t-test p = 0.43, Wilcoxon p = 0.91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Higher on 4 subjects, tied on 1, lower on 4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accent4"/>
                </a:solidFill>
              </a:rPr>
              <a:t>Not significant</a:t>
            </a:r>
            <a:r>
              <a:rPr lang="en-US" sz="1250" dirty="0">
                <a:solidFill>
                  <a:schemeClr val="tx1"/>
                </a:solidFill>
              </a:rPr>
              <a:t> with 9 subjects</a:t>
            </a:r>
            <a:endParaRPr lang="en-US" sz="1250" dirty="0"/>
          </a:p>
        </p:txBody>
      </p:sp>
      <p:sp>
        <p:nvSpPr>
          <p:cNvPr id="9" name="Run-to-run noise body"/>
          <p:cNvSpPr/>
          <p:nvPr/>
        </p:nvSpPr>
        <p:spPr>
          <a:xfrm>
            <a:off x="5120640" y="2514600"/>
            <a:ext cx="3611880" cy="1600200"/>
          </a:xfrm>
          <a:prstGeom prst="rect">
            <a:avLst/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10" name="Run-to-run noise title"/>
          <p:cNvSpPr txBox="1"/>
          <p:nvPr/>
        </p:nvSpPr>
        <p:spPr>
          <a:xfrm>
            <a:off x="5120640" y="2514600"/>
            <a:ext cx="3611880" cy="2743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Run-to-run noise</a:t>
            </a:r>
            <a:endParaRPr lang="en-US" sz="1300" dirty="0"/>
          </a:p>
        </p:txBody>
      </p:sp>
      <p:sp>
        <p:nvSpPr>
          <p:cNvPr id="11" name="Run-to-run noise text"/>
          <p:cNvSpPr txBox="1"/>
          <p:nvPr/>
        </p:nvSpPr>
        <p:spPr>
          <a:xfrm>
            <a:off x="5157216" y="2825496"/>
            <a:ext cx="3538728" cy="12527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The same k = 3 setup, trained twice: 77.13% then 78.33% (+1.2 pp).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So gaps under ~1 pp, like k = 5 vs k = 3 (+0.3 pp), are within noise.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47731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± = SD over 9 subjects. Session E is the held-out test session; it is used only here and on the next slide.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Per subject: one big win (S05), the rest within ±5 pp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7837714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6/7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640080"/>
          <a:ext cx="4937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40680" y="685800"/>
            <a:ext cx="3291840" cy="2606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S05:</a:t>
            </a:r>
            <a:r>
              <a:rPr lang="en-US" sz="1250" dirty="0">
                <a:solidFill>
                  <a:schemeClr val="tx1"/>
                </a:solidFill>
              </a:rPr>
              <a:t> 78.6% vs 60.8% (</a:t>
            </a:r>
            <a:r>
              <a:rPr lang="en-US" sz="1250" dirty="0">
                <a:solidFill>
                  <a:schemeClr val="accent4"/>
                </a:solidFill>
              </a:rPr>
              <a:t>+17.8 pp</a:t>
            </a:r>
            <a:r>
              <a:rPr lang="en-US" sz="1250" dirty="0">
                <a:solidFill>
                  <a:schemeClr val="tx1"/>
                </a:solidFill>
              </a:rPr>
              <a:t>). Hypothesis: a short ERD burst that the 0.5 s windows keep </a:t>
            </a:r>
            <a:r>
              <a:rPr lang="en-US" sz="900" dirty="0">
                <a:solidFill>
                  <a:schemeClr val="tx2"/>
                </a:solidFill>
              </a:rPr>
              <a:t> not tested yet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S02:</a:t>
            </a:r>
            <a:r>
              <a:rPr lang="en-US" sz="1250" dirty="0">
                <a:solidFill>
                  <a:schemeClr val="tx1"/>
                </a:solidFill>
              </a:rPr>
              <a:t> near chance for both (50.6% vs 55.1%). Likely BCI inefficiency: no clear mu/beta ERD, seen in 15-30% of users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Without S02:</a:t>
            </a:r>
            <a:r>
              <a:rPr lang="en-US" sz="1250" dirty="0">
                <a:solidFill>
                  <a:schemeClr val="tx1"/>
                </a:solidFill>
              </a:rPr>
              <a:t> HWNet 81.8%, MixNet 79.2%</a:t>
            </a:r>
            <a:endParaRPr lang="en-US" sz="1250" dirty="0"/>
          </a:p>
        </p:txBody>
      </p:sp>
      <p:sp>
        <p:nvSpPr>
          <p:cNvPr id="7" name="Takeaway body"/>
          <p:cNvSpPr/>
          <p:nvPr/>
        </p:nvSpPr>
        <p:spPr>
          <a:xfrm>
            <a:off x="5440680" y="3474720"/>
            <a:ext cx="3291840" cy="960120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8" name="Takeaway title"/>
          <p:cNvSpPr txBox="1"/>
          <p:nvPr/>
        </p:nvSpPr>
        <p:spPr>
          <a:xfrm>
            <a:off x="5440680" y="3474720"/>
            <a:ext cx="329184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Takeaway</a:t>
            </a:r>
            <a:endParaRPr lang="en-US" sz="1300" dirty="0"/>
          </a:p>
        </p:txBody>
      </p:sp>
      <p:sp>
        <p:nvSpPr>
          <p:cNvPr id="9" name="Takeaway text"/>
          <p:cNvSpPr txBox="1"/>
          <p:nvPr/>
        </p:nvSpPr>
        <p:spPr>
          <a:xfrm>
            <a:off x="5477256" y="3785616"/>
            <a:ext cx="3218688" cy="61264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The mean gain comes from S05. Without S05, HWNet is 0.2 pp below MixNet.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47731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Session E test accuracy, selected HWNet (k = 3) minus MixNet. Teal: HWNet higher, gold: MixNet higher.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Takeaways: MixNet-level accuracy at ~8× fewer parameters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7/7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731520"/>
            <a:ext cx="4663440" cy="374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Preprocessing does most of the work:</a:t>
            </a:r>
            <a:r>
              <a:rPr lang="en-US" sz="1300" dirty="0">
                <a:solidFill>
                  <a:schemeClr val="tx1"/>
                </a:solidFill>
              </a:rPr>
              <a:t> 36 × 15 windowed band power keeps ERD/ERS timing in 540 numbers per trial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A 5,362-parameter CNN is enough:</a:t>
            </a:r>
            <a:r>
              <a:rPr lang="en-US" sz="1300" dirty="0">
                <a:solidFill>
                  <a:schemeClr val="tx1"/>
                </a:solidFill>
              </a:rPr>
              <a:t> 78.3% on session E vs 76.5% for MixNet (44,777 params), not significantly different (p = 0.43)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Tuning confirmed the first design:</a:t>
            </a:r>
            <a:r>
              <a:rPr lang="en-US" sz="1300" dirty="0">
                <a:solidFill>
                  <a:schemeClr val="tx1"/>
                </a:solidFill>
              </a:rPr>
              <a:t> 11 configs screened, 5 run on all subjects; k = 3 and dropout 0.5 stayed on top in validation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Cheap to train:</a:t>
            </a:r>
            <a:r>
              <a:rPr lang="en-US" sz="1300" dirty="0">
                <a:solidFill>
                  <a:schemeClr val="tx1"/>
                </a:solidFill>
              </a:rPr>
              <a:t> ~4.5 min for all 9 subjects, one cross-entropy loss</a:t>
            </a:r>
            <a:endParaRPr lang="en-US" sz="1300" dirty="0"/>
          </a:p>
        </p:txBody>
      </p:sp>
      <p:sp>
        <p:nvSpPr>
          <p:cNvPr id="6" name="Takeaway body"/>
          <p:cNvSpPr/>
          <p:nvPr/>
        </p:nvSpPr>
        <p:spPr>
          <a:xfrm>
            <a:off x="5303520" y="777240"/>
            <a:ext cx="3429000" cy="1463040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7" name="Takeaway title"/>
          <p:cNvSpPr txBox="1"/>
          <p:nvPr/>
        </p:nvSpPr>
        <p:spPr>
          <a:xfrm>
            <a:off x="5303520" y="777240"/>
            <a:ext cx="342900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Takeaway</a:t>
            </a:r>
            <a:endParaRPr lang="en-US" sz="1300" dirty="0"/>
          </a:p>
        </p:txBody>
      </p:sp>
      <p:sp>
        <p:nvSpPr>
          <p:cNvPr id="8" name="Takeaway text"/>
          <p:cNvSpPr txBox="1"/>
          <p:nvPr/>
        </p:nvSpPr>
        <p:spPr>
          <a:xfrm>
            <a:off x="5340096" y="1088136"/>
            <a:ext cx="3355848" cy="11155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HWNet matches MixNet with ~8× fewer parameters and one loss. The accuracy gain is not significant, so the claim is </a:t>
            </a:r>
            <a:r>
              <a:rPr lang="en-US" sz="1300" dirty="0">
                <a:solidFill>
                  <a:schemeClr val="accent4"/>
                </a:solidFill>
              </a:rPr>
              <a:t>efficiency</a:t>
            </a:r>
            <a:r>
              <a:rPr lang="en-US" sz="1300" dirty="0">
                <a:solidFill>
                  <a:schemeClr val="tx1"/>
                </a:solidFill>
              </a:rPr>
              <a:t>, not better accuracy.</a:t>
            </a:r>
            <a:endParaRPr lang="en-US" sz="1300" dirty="0"/>
          </a:p>
        </p:txBody>
      </p:sp>
      <p:sp>
        <p:nvSpPr>
          <p:cNvPr id="9" name="Next body"/>
          <p:cNvSpPr/>
          <p:nvPr/>
        </p:nvSpPr>
        <p:spPr>
          <a:xfrm>
            <a:off x="5303520" y="2468880"/>
            <a:ext cx="3429000" cy="1463040"/>
          </a:xfrm>
          <a:prstGeom prst="rect">
            <a:avLst/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10" name="Next title"/>
          <p:cNvSpPr txBox="1"/>
          <p:nvPr/>
        </p:nvSpPr>
        <p:spPr>
          <a:xfrm>
            <a:off x="5303520" y="2468880"/>
            <a:ext cx="3429000" cy="2743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Next</a:t>
            </a:r>
            <a:endParaRPr lang="en-US" sz="1300" dirty="0"/>
          </a:p>
        </p:txBody>
      </p:sp>
      <p:sp>
        <p:nvSpPr>
          <p:cNvPr id="11" name="Next text"/>
          <p:cNvSpPr txBox="1"/>
          <p:nvPr/>
        </p:nvSpPr>
        <p:spPr>
          <a:xfrm>
            <a:off x="5340096" y="2779776"/>
            <a:ext cx="3355848" cy="11155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Multi-scale kernels (1×2, 1×3, 1×5)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Attention over the 36 features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Small GRU over the 15 windows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More seeds, to measure run-to-run noise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Backup: HWNet layers and parameter count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777240"/>
          <a:ext cx="83210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146304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Layer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Operation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Params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36 × 15 feature map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(1, 15, 36)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Conv 1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Conv2D 32, kernel (1, 3), same padding, ELU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(1, 15, 32)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3,488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BN 1 / Drop 1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BatchNorm, Dropout 0.5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(1, 15, 32)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Conv 2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Conv2D 16, kernel (1, 3), same padding, ELU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(1, 15, 16)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1,552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BN 2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BatchNorm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(1, 15, 16)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Pool 2 / Drop 2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AvgPool (1, 2), Dropout 0.5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(1, 7, 16)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Flatten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112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Dense + softmax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Dense 2, max-norm 0.5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226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5,362 trainable (+96 BatchNorm statistics)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5,458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11480" y="3703320"/>
            <a:ext cx="8321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k = 5 variant: same layers with (1, 5) kernels, 8,690 trainable parameters. k = 2: 4,210.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7731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Code: MixNet-homework/mixnet/models/HWNet.py, configs in MixNet-homework/experiments/configs/HWNet.py.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Backup: per-subject results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731520"/>
          <a:ext cx="8321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34440"/>
                <a:gridCol w="1143000"/>
                <a:gridCol w="1234440"/>
                <a:gridCol w="1234440"/>
                <a:gridCol w="1234440"/>
                <a:gridCol w="132588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Subject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Val acc (sel.)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accent2"/>
                          </a:solidFill>
                        </a:rPr>
                        <a:t>MixNet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HWNet first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HWNet sel.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HWNet k = 5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Sel. − MixNet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S01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90.27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85.56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82.92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86.11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87.78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+0.56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S02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61.80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55.14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49.44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50.56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51.94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−4.58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S03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95.17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91.94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92.22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90.42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90.00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−1.53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S04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72.29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68.47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65.14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66.81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64.17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−1.67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S05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88.20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60.83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76.81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78.61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78.06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+17.78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S06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68.60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60.14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62.78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64.58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65.14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+4.44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S07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91.67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89.72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88.33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88.06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88.61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−1.67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S08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96.53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90.42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93.47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93.33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94.44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+2.92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S09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90.30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86.53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83.06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86.53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87.64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Mean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83.87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76.53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77.13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78.33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78.64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+1.81</a:t>
                      </a:r>
                      <a:endParaRPr lang="en-US" sz="115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4773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Session E test accuracy (%) except "Val acc", which is the session T validation mean over 5 folds for the selected model.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p Metropolis">
  <a:themeElements>
    <a:clrScheme name="Prep Metropolis">
      <a:dk1>
        <a:srgbClr val="23373B"/>
      </a:dk1>
      <a:lt1>
        <a:srgbClr val="FAFAFA"/>
      </a:lt1>
      <a:dk2>
        <a:srgbClr val="808080"/>
      </a:dk2>
      <a:lt2>
        <a:srgbClr val="FFFFFF"/>
      </a:lt2>
      <a:accent1>
        <a:srgbClr val="1B7F79"/>
      </a:accent1>
      <a:accent2>
        <a:srgbClr val="9A6A00"/>
      </a:accent2>
      <a:accent3>
        <a:srgbClr val="7A3E9D"/>
      </a:accent3>
      <a:accent4>
        <a:srgbClr val="EB811B"/>
      </a:accent4>
      <a:accent5>
        <a:srgbClr val="999999"/>
      </a:accent5>
      <a:accent6>
        <a:srgbClr val="5A5A5A"/>
      </a:accent6>
      <a:hlink>
        <a:srgbClr val="1B7F79"/>
      </a:hlink>
      <a:folHlink>
        <a:srgbClr val="7A3E9D"/>
      </a:folHlink>
    </a:clrScheme>
    <a:fontScheme name="Prep Metropoli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1: Preprocessing</dc:title>
  <dc:subject>PptxGenJS Presentation</dc:subject>
  <dc:creator>PptxGenJS</dc:creator>
  <cp:lastModifiedBy>PptxGenJS</cp:lastModifiedBy>
  <cp:revision>1</cp:revision>
  <dcterms:created xsi:type="dcterms:W3CDTF">2026-10-29T10:27:06Z</dcterms:created>
  <dcterms:modified xsi:type="dcterms:W3CDTF">2026-10-29T10:27:06Z</dcterms:modified>
</cp:coreProperties>
</file>