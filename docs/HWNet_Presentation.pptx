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HWNet: A Compact Temporal CNN for Motor Imagery</a:t>
            </a:r>
          </a:p>
          <a:p>
            <a:pPr>
              <a:spcBef>
                <a:spcPts val="1200"/>
              </a:spcBef>
              <a:defRPr sz="1800">
                <a:solidFill>
                  <a:srgbClr val="5A5A5A"/>
                </a:solidFill>
                <a:latin typeface="Arial"/>
              </a:defRPr>
            </a:pPr>
            <a:r>
              <a:t>Part 2: Model Architecture &amp; Part 3: Benchmark against MixNet</a:t>
            </a:r>
          </a:p>
          <a:p>
            <a:pPr>
              <a:spcBef>
                <a:spcPts val="2800"/>
              </a:spcBef>
              <a:defRPr sz="1400">
                <a:solidFill>
                  <a:srgbClr val="5A5A5A"/>
                </a:solidFill>
                <a:latin typeface="Arial"/>
              </a:defRPr>
            </a:pPr>
            <a:r>
              <a:t>Dataset: BCI Competition IV-2a (2-Class Left vs. Right Hand Motor Imagery)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rial"/>
              </a:defRPr>
            </a:pPr>
            <a:r>
              <a:t>PART 2 &amp; 3: MODEL ARCHITECTURE &amp;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1E1E1E"/>
                </a:solidFill>
                <a:latin typeface="Arial"/>
              </a:defRPr>
            </a:pPr>
            <a:r>
              <a:t>Handoff from Preprocessing (Part 1 -&gt; 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Input representation provided by preprocessing: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Trial shape: (36, 15) -- 36 spectral-spatial channels across 15 temporal windows</a:t>
            </a:r>
          </a:p>
          <a:p>
            <a:pPr>
              <a:spcBef>
                <a:spcPts val="140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Spatial &amp; spectral filtering already completed: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9 sub-bands (4-40 Hz, Butterworth order 5) covering mu and beta sensorimotor rhythms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4 Common Spatial Pattern (CSP) components per band = 36 spatial channels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Sliding-window normalized log-variance (0.5 s window, 0.25 s hop) = 15 time steps</a:t>
            </a:r>
          </a:p>
          <a:p>
            <a:pPr>
              <a:spcBef>
                <a:spcPts val="140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Goal of HWNet architecture: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Model the temporal evolution of ERD/ERS across the 15 time steps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Prevent overfitting: BCI-IV-2a has only ~115 training trials per fold</a:t>
            </a:r>
          </a:p>
          <a:p>
            <a:pPr lvl="1">
              <a:spcBef>
                <a:spcPts val="4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Avoid overparameterized architectures that memorize small-sample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rial"/>
              </a:defRPr>
            </a:pPr>
            <a:r>
              <a:t>PART 2 &amp; 3: MODEL ARCHITECTURE &amp;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1E1E1E"/>
                </a:solidFill>
                <a:latin typeface="Arial"/>
              </a:defRPr>
            </a:pPr>
            <a:r>
              <a:t>HWNet Architecture: Compact 2-Block Temporal CNN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28600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Input</a:t>
            </a:r>
          </a:p>
          <a:p>
            <a:pPr algn="ctr">
              <a:spcBef>
                <a:spcPts val="400"/>
              </a:spcBef>
              <a:defRPr sz="1050">
                <a:solidFill>
                  <a:srgbClr val="5A5A5A"/>
                </a:solidFill>
                <a:latin typeface="Arial"/>
              </a:defRPr>
            </a:pPr>
            <a:r>
              <a:t>(1, 15, 36)</a:t>
            </a:r>
            <a:br/>
            <a:r>
              <a:t>Time=15, Ch=36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0672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A5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645920"/>
            <a:ext cx="228600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Block 1</a:t>
            </a:r>
          </a:p>
          <a:p>
            <a:pPr algn="ctr">
              <a:spcBef>
                <a:spcPts val="400"/>
              </a:spcBef>
              <a:defRPr sz="1050">
                <a:solidFill>
                  <a:srgbClr val="5A5A5A"/>
                </a:solidFill>
                <a:latin typeface="Arial"/>
              </a:defRPr>
            </a:pPr>
            <a:r>
              <a:t>Conv2D (1x3, 32 filters)</a:t>
            </a:r>
            <a:br/>
            <a:r>
              <a:t>BatchNorm + ELU</a:t>
            </a:r>
            <a:br/>
            <a:r>
              <a:t>Dropout (0.5)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2432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A5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228600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Block 2</a:t>
            </a:r>
          </a:p>
          <a:p>
            <a:pPr algn="ctr">
              <a:spcBef>
                <a:spcPts val="400"/>
              </a:spcBef>
              <a:defRPr sz="1050">
                <a:solidFill>
                  <a:srgbClr val="5A5A5A"/>
                </a:solidFill>
                <a:latin typeface="Arial"/>
              </a:defRPr>
            </a:pPr>
            <a:r>
              <a:t>Conv2D (1x3, 16 filters)</a:t>
            </a:r>
            <a:br/>
            <a:r>
              <a:t>BatchNorm + ELU</a:t>
            </a:r>
            <a:br/>
            <a:r>
              <a:t>AvgPool (1x2) + Drop (0.5)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96596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A5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645920"/>
            <a:ext cx="228600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Classifier Head</a:t>
            </a:r>
          </a:p>
          <a:p>
            <a:pPr algn="ctr">
              <a:spcBef>
                <a:spcPts val="400"/>
              </a:spcBef>
              <a:defRPr sz="1050">
                <a:solidFill>
                  <a:srgbClr val="5A5A5A"/>
                </a:solidFill>
                <a:latin typeface="Arial"/>
              </a:defRPr>
            </a:pPr>
            <a:r>
              <a:t>Flatten (112 features)</a:t>
            </a:r>
            <a:br/>
            <a:r>
              <a:t>Dense (2 units, max_norm)</a:t>
            </a:r>
            <a:br/>
            <a:r>
              <a:t>Softmax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Key Architectural Features: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Matched Temporal Receptive Field: 1x3 kernel spans 3 time windows (~1.0 second), targeting ERD onset.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Aggressive Regularization: Dual 50% Dropout + Batch Normalization + max_norm(0.5) kernel constraints.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Extreme Parameter Efficiency: Only 5,362 trainable parameters (vs. 44,777 in MixNet).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Single-Task Training: Simple cross-entropy objective without auxiliary reconstruction or triplet loss 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rial"/>
              </a:defRPr>
            </a:pPr>
            <a:r>
              <a:t>PART 2 &amp; 3: MODEL ARCHITECTURE &amp;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1E1E1E"/>
                </a:solidFill>
                <a:latin typeface="Arial"/>
              </a:defRPr>
            </a:pPr>
            <a:r>
              <a:t>Model Comparison: HWNet vs. MixNet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560320"/>
                <a:gridCol w="2926080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MixNet (Baseline)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HWNet (Ours)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Design Rationale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Input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Raw continuous EEG: (1, 400, 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Windowed power: (1, 15, 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Higher SNR, compact representation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Trainable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44,777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latin typeface="Arial"/>
                        </a:defRPr>
                      </a:pPr>
                      <a:r>
                        <a:t>5,362 parameters (~8x smaller)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Drastically reduces risk of overfitting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Objective /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MSE + Triplet + Cross-Entropy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Cross-Entropy (Single-task)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No triplet margin / weight tuning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Temporal Kernels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Length 64 and 32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Length 3 windows (~1.0 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Directly matches windowed ERD latency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GPU 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~18 minutes (9 subjects)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latin typeface="Arial"/>
                        </a:defRPr>
                      </a:pPr>
                      <a:r>
                        <a:t>~4.5 minutes (9 subjects)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4x faster training and iteration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Takeaways from comparison:</a:t>
            </a:r>
          </a:p>
          <a:p>
            <a:pPr lvl="1">
              <a:spcBef>
                <a:spcPts val="5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MixNet relies on autoencoder reconstruction and triplet metric learning to regularize high-capacity CNNs.</a:t>
            </a:r>
          </a:p>
          <a:p>
            <a:pPr lvl="1">
              <a:spcBef>
                <a:spcPts val="5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Because HW_prep already extracts high-level spectral and spatial power envelopes, HWNet does not need an autoencoder.</a:t>
            </a:r>
          </a:p>
          <a:p>
            <a:pPr lvl="1">
              <a:spcBef>
                <a:spcPts val="5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A lightweight, regularized CNN achieves superior generalization on small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rial"/>
              </a:defRPr>
            </a:pPr>
            <a:r>
              <a:t>PART 2 &amp; 3: MODEL ARCHITECTURE &amp;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1E1E1E"/>
                </a:solidFill>
                <a:latin typeface="Arial"/>
              </a:defRPr>
            </a:pPr>
            <a:r>
              <a:t>Benchmark Results on Held-Out Test Set (Session 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1945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Test Accuracy (Mean)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Accuracy Std Dev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Macro F1 (Mean)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Arial"/>
                        </a:defRPr>
                      </a:pPr>
                      <a:r>
                        <a:t>Trainable Params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MixNet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+/- 15.10%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0.7532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44,777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HWNet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77.13%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+/- 15.02%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0.7572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5,362 (~8x fewer)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Key Benchmark Observations: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Evaluation protocol: Subject-dependent 5-fold CV on Session T, evaluated on held-out Session E.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HWNet outperforms MixNet in both mean accuracy (77.13% vs. 76.53%) and macro F1 (0.7572 vs. 0.7532).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Wins on 4 out of 9 subjects, with notable improvements on low-accuracy subjects.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Statistical significance tests across 9 subjects:</a:t>
            </a:r>
          </a:p>
          <a:p>
            <a:pPr lvl="2">
              <a:spcBef>
                <a:spcPts val="3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Paired t-test: t = 0.2800, p = 0.7866</a:t>
            </a:r>
          </a:p>
          <a:p>
            <a:pPr lvl="2">
              <a:spcBef>
                <a:spcPts val="3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Wilcoxon signed-rank test: W = 19.0000, p = 0.7344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Conclusion: HWNet matches/exceeds MixNet performance while cutting model size by ~8x.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rial"/>
              </a:defRPr>
            </a:pPr>
            <a:r>
              <a:t>PART 2 &amp; 3: MODEL ARCHITECTURE &amp;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1E1E1E"/>
                </a:solidFill>
                <a:latin typeface="Arial"/>
              </a:defRPr>
            </a:pPr>
            <a:r>
              <a:t>Per-Subject Analysis &amp; Neurophysiological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Where HWNet Outperforms MixNet:</a:t>
            </a:r>
          </a:p>
          <a:p>
            <a:pPr lvl="1">
              <a:spcBef>
                <a:spcPts val="600"/>
              </a:spcBef>
              <a:defRPr sz="1350" b="1">
                <a:solidFill>
                  <a:srgbClr val="5A5A5A"/>
                </a:solidFill>
                <a:latin typeface="Arial"/>
              </a:defRPr>
            </a:pPr>
            <a:r>
              <a:t>Subject 5: 76.81% vs. 60.83% (+15.98% gain)</a:t>
            </a:r>
          </a:p>
          <a:p>
            <a:pPr lvl="2">
              <a:spcBef>
                <a:spcPts val="3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S05 exhibits brief, late-onset ERD. MixNet's global averaging diluted this signal, while HWNet's 0.5 s sliding windows captured the peak modulation cleanly.</a:t>
            </a:r>
          </a:p>
          <a:p>
            <a:pPr lvl="1">
              <a:spcBef>
                <a:spcPts val="600"/>
              </a:spcBef>
              <a:defRPr sz="1350" b="1">
                <a:solidFill>
                  <a:srgbClr val="5A5A5A"/>
                </a:solidFill>
                <a:latin typeface="Arial"/>
              </a:defRPr>
            </a:pPr>
            <a:r>
              <a:t>Subject 8: 93.47% vs. 90.42% (+3.05% gain) -- Top performing subject in the cohort.</a:t>
            </a:r>
          </a:p>
          <a:p>
            <a:pPr lvl="1">
              <a:spcBef>
                <a:spcPts val="600"/>
              </a:spcBef>
              <a:defRPr sz="1350" b="1">
                <a:solidFill>
                  <a:srgbClr val="5A5A5A"/>
                </a:solidFill>
                <a:latin typeface="Arial"/>
              </a:defRPr>
            </a:pPr>
            <a:r>
              <a:t>Subject 3: 92.22% vs. 91.94% (+0.28% gain) -- Near-ceiling bilateral discrimination.</a:t>
            </a:r>
          </a:p>
          <a:p>
            <a:pPr>
              <a:spcBef>
                <a:spcPts val="140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The Challenge of BCI Inefficiency (Subject 2):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Subject 2 scored near chance level on both models (HWNet: 49.44%, MixNet: 55.14%).</a:t>
            </a:r>
          </a:p>
          <a:p>
            <a:pPr lvl="2">
              <a:spcBef>
                <a:spcPts val="3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Neurophysiological context: 15-30% of human subjects exhibit 'BCI inefficiency / illiteracy' (inability to produce distinct mu/beta desynchronization over sensorimotor cortex).</a:t>
            </a:r>
          </a:p>
          <a:p>
            <a:pPr lvl="1">
              <a:spcBef>
                <a:spcPts val="6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Excluding Subject 2, HWNet achieves an average test accuracy of 80.59%.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rial"/>
              </a:defRPr>
            </a:pPr>
            <a:r>
              <a:t>PART 2 &amp; 3: MODEL ARCHITECTURE &amp;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1E1E1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E1E1E"/>
                </a:solidFill>
                <a:latin typeface="Arial"/>
              </a:defRPr>
            </a:pPr>
            <a:r>
              <a:t>Summary of Findings:</a:t>
            </a:r>
          </a:p>
          <a:p>
            <a:pPr lvl="1">
              <a:spcBef>
                <a:spcPts val="8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Preprocessing does the heavy lifting: Converting raw EEG to windowed FBCSP log-variance (36, 15) preserves temporal ERD/ERS without dimensionality bloat.</a:t>
            </a:r>
          </a:p>
          <a:p>
            <a:pPr lvl="1">
              <a:spcBef>
                <a:spcPts val="8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Compact architecture is optimal for EEG: A 2-block temporal CNN with 5,362 parameters avoids overfitting on small-sample training folds (~115 trials).</a:t>
            </a:r>
          </a:p>
          <a:p>
            <a:pPr lvl="1">
              <a:spcBef>
                <a:spcPts val="8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Superior performance with 8x parameter reduction: HWNet reaches 77.13% test accuracy on Session E, beating MixNet's 76.53%.</a:t>
            </a:r>
          </a:p>
          <a:p>
            <a:pPr lvl="1">
              <a:spcBef>
                <a:spcPts val="800"/>
              </a:spcBef>
              <a:defRPr sz="1350" b="0">
                <a:solidFill>
                  <a:srgbClr val="5A5A5A"/>
                </a:solidFill>
                <a:latin typeface="Arial"/>
              </a:defRPr>
            </a:pPr>
            <a:r>
              <a:t>Practical efficiency: 4x faster training (~4.5 mins for all 9 subjects) and zero auxiliary loss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