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377" y="2130425"/>
            <a:ext cx="1036294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754" y="3886200"/>
            <a:ext cx="8534186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59" y="4406900"/>
            <a:ext cx="1036294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59" y="2906713"/>
            <a:ext cx="1036294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584" y="1600200"/>
            <a:ext cx="5384665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444" y="1600200"/>
            <a:ext cx="5384665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84" y="1535113"/>
            <a:ext cx="5386782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584" y="2174875"/>
            <a:ext cx="5386782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211" y="1535113"/>
            <a:ext cx="538889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211" y="2174875"/>
            <a:ext cx="538889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584" y="273050"/>
            <a:ext cx="401098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614" y="273050"/>
            <a:ext cx="6815496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584" y="1435100"/>
            <a:ext cx="401098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657" y="4800600"/>
            <a:ext cx="7315016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657" y="612775"/>
            <a:ext cx="7315016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657" y="5367338"/>
            <a:ext cx="7315016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8978" y="274638"/>
            <a:ext cx="2743131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584" y="274638"/>
            <a:ext cx="8026199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584" y="274638"/>
            <a:ext cx="10972525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84" y="1600200"/>
            <a:ext cx="10972525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584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495" y="6356350"/>
            <a:ext cx="386070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381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HWNet: A Compact Temporal CNN for Motor Imagery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Parts 2–3: Model Architecture and Benchmark</a:t>
            </a:r>
          </a:p>
          <a:p>
            <a:r>
              <a:t>BCI Competition IV-2a, 2-class (left vs. right hand)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Input from Preprocessing (Part 1)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rPr b="0" sz="2400"/>
              <a:t>Each trial arrives as a 36 × 15 feature matrix</a:t>
            </a:r>
          </a:p>
          <a:p>
            <a:pPr lvl="1"/>
            <a:r>
              <a:rPr b="0" sz="2100"/>
              <a:t>9 sub-bands (4–40 Hz) × 4 CSP components = 36 features</a:t>
            </a:r>
          </a:p>
          <a:p>
            <a:pPr lvl="1"/>
            <a:r>
              <a:rPr b="0" sz="2100"/>
              <a:t>Log-variance in sliding windows (0.5 s, 0.25 s hop) = 15 time steps</a:t>
            </a:r>
          </a:p>
          <a:p>
            <a:pPr/>
            <a:r>
              <a:rPr b="0" sz="2400"/>
              <a:t>Spatial and spectral filtering is already done</a:t>
            </a:r>
          </a:p>
          <a:p>
            <a:pPr/>
            <a:r>
              <a:rPr b="0" sz="2400"/>
              <a:t>What is left for the model: the temporal evolution of ERD/ERS</a:t>
            </a:r>
          </a:p>
          <a:p>
            <a:pPr/>
            <a:r>
              <a:rPr b="0" sz="2400"/>
              <a:t>Constraint: only ~115 training trials per fold, so the model must be small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HWNet Architecture</a:t>
            </a:r>
          </a:p>
        </p:txBody>
      </p:sp>
      <p:pic>
        <p:nvPicPr>
          <p:cNvPr id="3" name="Picture 2" descr="hwnet_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1508760"/>
            <a:ext cx="10881360" cy="2989312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41248" y="4800600"/>
            <a:ext cx="1051560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74320" indent="-274320" lvl="0">
              <a:spcBef>
                <a:spcPts val="600"/>
              </a:spcBef>
              <a:buChar char="•"/>
            </a:pPr>
            <a:r>
              <a:rPr b="0" sz="1800"/>
              <a:t>Two temporal conv blocks: 1×3 kernels slide over time only (≈1.0 s per kernel)</a:t>
            </a:r>
          </a:p>
          <a:p>
            <a:pPr marL="274320" indent="-274320" lvl="0">
              <a:spcBef>
                <a:spcPts val="600"/>
              </a:spcBef>
              <a:buChar char="•"/>
            </a:pPr>
            <a:r>
              <a:rPr b="0" sz="1800"/>
              <a:t>Regularisation: dropout 0.5 (×2), batch norm, max-norm 0.5</a:t>
            </a:r>
          </a:p>
          <a:p>
            <a:pPr marL="274320" indent="-274320" lvl="0">
              <a:spcBef>
                <a:spcPts val="600"/>
              </a:spcBef>
              <a:buChar char="•"/>
            </a:pPr>
            <a:r>
              <a:rPr b="0" sz="1800"/>
              <a:t>5,362 trainable parameters, trained with plain cross-entropy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HWNet vs. MixNet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841248" y="1554480"/>
          <a:ext cx="10515599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108960"/>
                <a:gridCol w="3657600"/>
                <a:gridCol w="3749039"/>
              </a:tblGrid>
              <a:tr h="365760"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600"/>
                        <a:t>MixNet (baseline)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600"/>
                        <a:t>HWNet (ours)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600"/>
                        <a:t>Input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600"/>
                        <a:t>Raw EEG, 1 × 400 × 18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600"/>
                        <a:t>Windowed FBCSP power, 1 × 15 × 36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600"/>
                        <a:t>Trainable parameters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600"/>
                        <a:t>44,777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600"/>
                        <a:t>5,362 (~8× fewer)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600"/>
                        <a:t>Loss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600"/>
                        <a:t>MSE + triplet + cross-entropy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600"/>
                        <a:t>Cross-entropy only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600"/>
                        <a:t>Temporal kernels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600"/>
                        <a:t>64 and 32 samples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600"/>
                        <a:t>3 windows (≈1.0 s)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600"/>
                        <a:t>Training time, 9 subjects (GPU)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600"/>
                        <a:t>~18 min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600"/>
                        <a:t>~4.5 min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841248" y="4389120"/>
            <a:ext cx="105156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74320" indent="-274320" lvl="0">
              <a:spcBef>
                <a:spcPts val="600"/>
              </a:spcBef>
              <a:buChar char="•"/>
            </a:pPr>
            <a:r>
              <a:rPr b="0" sz="1800"/>
              <a:t>Preprocessing already extracts the spatial-spectral information, so the autoencoder and triplet loss in MixNet are not needed</a:t>
            </a:r>
          </a:p>
          <a:p>
            <a:pPr marL="274320" indent="-274320" lvl="0">
              <a:spcBef>
                <a:spcPts val="600"/>
              </a:spcBef>
              <a:buChar char="•"/>
            </a:pPr>
            <a:r>
              <a:rPr b="0" sz="1800"/>
              <a:t>Fewer parameters and a single loss: nothing to balance or tune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Results on Held-Out Session E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841248" y="1554480"/>
          <a:ext cx="10515600" cy="1097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7440"/>
                <a:gridCol w="2834640"/>
                <a:gridCol w="2834640"/>
                <a:gridCol w="2468880"/>
              </a:tblGrid>
              <a:tr h="365760">
                <a:tc>
                  <a:txBody>
                    <a:bodyPr/>
                    <a:lstStyle/>
                    <a:p>
                      <a:r>
                        <a:rPr sz="1600"/>
                        <a:t>Model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600"/>
                        <a:t>Accuracy (mean ± SD)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600"/>
                        <a:t>Macro F1 (mean ± SD)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600"/>
                        <a:t>Trainable params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600"/>
                        <a:t>MixNet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600"/>
                        <a:t>76.53% ± 15.10%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600"/>
                        <a:t>0.753 ± 0.164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600"/>
                        <a:t>44,777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600"/>
                        <a:t>HWNet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600"/>
                        <a:t>77.13% ± 15.02%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600"/>
                        <a:t>0.757 ± 0.174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600"/>
                        <a:t>5,362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841248" y="3108960"/>
            <a:ext cx="1051560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74320" indent="-274320" lvl="0">
              <a:spcBef>
                <a:spcPts val="600"/>
              </a:spcBef>
              <a:buChar char="•"/>
            </a:pPr>
            <a:r>
              <a:rPr b="0" sz="2000"/>
              <a:t>Protocol: 5-fold CV on Session T, tested on unseen Session E, 9 subjects</a:t>
            </a:r>
          </a:p>
          <a:p>
            <a:pPr marL="274320" indent="-274320" lvl="0">
              <a:spcBef>
                <a:spcPts val="600"/>
              </a:spcBef>
              <a:buChar char="•"/>
            </a:pPr>
            <a:r>
              <a:rPr b="0" sz="2000"/>
              <a:t>HWNet: +0.6 pp accuracy, better on 4 of 9 subjects</a:t>
            </a:r>
          </a:p>
          <a:p>
            <a:pPr marL="274320" indent="-274320" lvl="0">
              <a:spcBef>
                <a:spcPts val="600"/>
              </a:spcBef>
              <a:buChar char="•"/>
            </a:pPr>
            <a:r>
              <a:rPr b="0" sz="2000"/>
              <a:t>Difference is not significant (paired t-test p = 0.787, Wilcoxon p = 0.734)</a:t>
            </a:r>
          </a:p>
          <a:p>
            <a:pPr marL="274320" indent="-274320" lvl="0">
              <a:spcBef>
                <a:spcPts val="600"/>
              </a:spcBef>
              <a:buChar char="•"/>
            </a:pPr>
            <a:r>
              <a:rPr b="0" sz="2000"/>
              <a:t>Takeaway: same accuracy as MixNet with ~8× fewer parameters and 4× faster training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Per-Subject Observations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rPr b="0" sz="2200"/>
              <a:t>Largest gain on S5: 76.81% vs. 60.83% (+16.0 pp)</a:t>
            </a:r>
          </a:p>
          <a:p>
            <a:pPr lvl="1"/>
            <a:r>
              <a:rPr b="0" sz="1900"/>
              <a:t>S5 shows a brief, late ERD; the 0.5 s windows likely capture it better than MixNet's long kernels</a:t>
            </a:r>
          </a:p>
          <a:p>
            <a:pPr/>
            <a:r>
              <a:rPr b="0" sz="2200"/>
              <a:t>S8: 93.47% vs. 90.42%, best subject in the cohort</a:t>
            </a:r>
          </a:p>
          <a:p>
            <a:pPr/>
            <a:r>
              <a:rPr b="0" sz="2200"/>
              <a:t>S3: 92.22% vs. 91.94%, near ceiling for both models</a:t>
            </a:r>
          </a:p>
          <a:p>
            <a:pPr/>
            <a:r>
              <a:rPr b="0" sz="2200"/>
              <a:t>S2 is near chance for both models (HWNet 49.44%, MixNet 55.14%)</a:t>
            </a:r>
          </a:p>
          <a:p>
            <a:pPr lvl="1"/>
            <a:r>
              <a:rPr b="0" sz="1900"/>
              <a:t>Consistent with BCI inefficiency: no clear μ/β desynchronisation</a:t>
            </a:r>
          </a:p>
          <a:p>
            <a:pPr lvl="1"/>
            <a:r>
              <a:rPr b="0" sz="1900"/>
              <a:t>Excluding S2, HWNet mean accuracy is 80.59%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Conclusion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rPr b="0" sz="2400"/>
              <a:t>Windowed FBCSP features (36 × 15) keep the temporal ERD/ERS information in a compact form</a:t>
            </a:r>
          </a:p>
          <a:p>
            <a:pPr/>
            <a:r>
              <a:rPr b="0" sz="2400"/>
              <a:t>A 2-block temporal CNN with 5.4k parameters is enough on top of these features</a:t>
            </a:r>
          </a:p>
          <a:p>
            <a:pPr/>
            <a:r>
              <a:rPr b="0" sz="2400"/>
              <a:t>Matches MixNet on Session E (77.13% vs. 76.53%, n.s.) with ~8× fewer parameters</a:t>
            </a:r>
          </a:p>
          <a:p>
            <a:pPr/>
            <a:r>
              <a:rPr b="0" sz="2400"/>
              <a:t>Faster to train (~4.5 min for all subjects) and no auxiliary losses to tune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