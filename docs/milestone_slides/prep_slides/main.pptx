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processing" id="{fa66273f-ec35-a4c5-88d9-3867ef0d0eb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Backup" id="{c8406416-e0e7-cfe7-b412-8a3363c2bdb5}">
          <p14:sldIdLst>
            <p14:sldId id="262"/>
          </p14:sldIdLst>
        </p14:section>
        <p14:section name="S3 walkthrough" id="{03427bef-8fcf-20d6-3a34-644d7c18ed80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87168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938528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Part 1: Preprocessing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938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Filter-bank CSP + band power in short time windows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 Frontiers, VISTEC · BCIC IV-2a, left vs right hand 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not just use CSP, or MixNet’s input?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18288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1/5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3383280" cy="32918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 shows up as </a:t>
            </a:r>
            <a:r>
              <a:rPr lang="en-US" sz="1400" dirty="0">
                <a:solidFill>
                  <a:schemeClr val="accent4"/>
                </a:solidFill>
              </a:rPr>
              <a:t>ERD/ERS in Mu and beta</a:t>
            </a:r>
            <a:r>
              <a:rPr lang="en-US" sz="1400" dirty="0">
                <a:solidFill>
                  <a:schemeClr val="tx1"/>
                </a:solidFill>
              </a:rPr>
              <a:t>, around C3/C4</a:t>
            </a:r>
            <a:r>
              <a:rPr lang="en-US" sz="1000" dirty="0">
                <a:solidFill>
                  <a:schemeClr val="tx2"/>
                </a:solidFill>
              </a:rPr>
              <a:t> [lecture p.51]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Classic CSP keeps one log-variance per trial, so it </a:t>
            </a:r>
            <a:r>
              <a:rPr lang="en-US" sz="1400" dirty="0">
                <a:solidFill>
                  <a:schemeClr val="accent4"/>
                </a:solidFill>
              </a:rPr>
              <a:t>throws away the timing</a:t>
            </a:r>
            <a:r>
              <a:rPr lang="en-US" sz="1400" dirty="0">
                <a:solidFill>
                  <a:schemeClr val="tx1"/>
                </a:solidFill>
              </a:rPr>
              <a:t> inside the trial</a:t>
            </a:r>
            <a:r>
              <a:rPr lang="en-US" sz="1000" dirty="0">
                <a:solidFill>
                  <a:schemeClr val="tx2"/>
                </a:solidFill>
              </a:rPr>
              <a:t> [lecture p.62]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MixNet keeps the whole CSP time series</a:t>
            </a:r>
            <a:r>
              <a:rPr lang="en-US" sz="1000" dirty="0">
                <a:solidFill>
                  <a:schemeClr val="tx2"/>
                </a:solidFill>
              </a:rPr>
              <a:t> [lecture p.63]</a:t>
            </a:r>
            <a:r>
              <a:rPr lang="en-US" sz="1400" dirty="0">
                <a:solidFill>
                  <a:schemeClr val="tx1"/>
                </a:solidFill>
              </a:rPr>
              <a:t>: 7,200 numbers per trial, learned from only ∼115 training trials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005840"/>
          <a:ext cx="4663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18872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FBCSP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400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per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×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×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per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Hypothesis body"/>
          <p:cNvSpPr/>
          <p:nvPr/>
        </p:nvSpPr>
        <p:spPr>
          <a:xfrm>
            <a:off x="4069080" y="2286000"/>
            <a:ext cx="4663440" cy="96012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Hypothesis title"/>
          <p:cNvSpPr txBox="1"/>
          <p:nvPr/>
        </p:nvSpPr>
        <p:spPr>
          <a:xfrm>
            <a:off x="4069080" y="2286000"/>
            <a:ext cx="466344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Hypothesis</a:t>
            </a:r>
            <a:endParaRPr lang="en-US" sz="1300" dirty="0"/>
          </a:p>
        </p:txBody>
      </p:sp>
      <p:sp>
        <p:nvSpPr>
          <p:cNvPr id="9" name="Hypothesis text"/>
          <p:cNvSpPr txBox="1"/>
          <p:nvPr/>
        </p:nvSpPr>
        <p:spPr>
          <a:xfrm>
            <a:off x="4105656" y="2596896"/>
            <a:ext cx="4590288" cy="6126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Band power in </a:t>
            </a:r>
            <a:r>
              <a:rPr lang="en-US" sz="1300" dirty="0">
                <a:solidFill>
                  <a:schemeClr val="accent4"/>
                </a:solidFill>
              </a:rPr>
              <a:t>short time windows</a:t>
            </a:r>
            <a:r>
              <a:rPr lang="en-US" sz="1300" dirty="0">
                <a:solidFill>
                  <a:schemeClr val="tx1"/>
                </a:solidFill>
              </a:rPr>
              <a:t> keeps the timing of ERD/ERS, at a size a small model can learn from ∼115 trials.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Pipeline: four steps, two of them learned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36576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2/5</a:t>
            </a:r>
            <a:endParaRPr lang="en-US" sz="900" dirty="0"/>
          </a:p>
        </p:txBody>
      </p:sp>
      <p:sp>
        <p:nvSpPr>
          <p:cNvPr id="5" name="step Raw EEG"/>
          <p:cNvSpPr/>
          <p:nvPr/>
        </p:nvSpPr>
        <p:spPr>
          <a:xfrm>
            <a:off x="59436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Raw EEG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 channels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s at 100 Hz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20 × 400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tep Filter bank"/>
          <p:cNvSpPr/>
          <p:nvPr/>
        </p:nvSpPr>
        <p:spPr>
          <a:xfrm>
            <a:off x="224028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Filter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 bands, 4-40 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Butterworth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9 × 20 × 400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3931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tep CSP per band"/>
          <p:cNvSpPr/>
          <p:nvPr/>
        </p:nvSpPr>
        <p:spPr>
          <a:xfrm>
            <a:off x="388620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CSP per 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 band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400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tep Log-variance"/>
          <p:cNvSpPr/>
          <p:nvPr/>
        </p:nvSpPr>
        <p:spPr>
          <a:xfrm>
            <a:off x="553212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5">
              <a:alpha val="10000"/>
            </a:schemeClr>
          </a:solidFill>
          <a:ln w="952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Log-variance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0.5 s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0.25 s step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1152" y="155448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tep Standardize"/>
          <p:cNvSpPr/>
          <p:nvPr/>
        </p:nvSpPr>
        <p:spPr>
          <a:xfrm>
            <a:off x="7178040" y="1188720"/>
            <a:ext cx="1371600" cy="731520"/>
          </a:xfrm>
          <a:prstGeom prst="roundRect">
            <a:avLst>
              <a:gd name="adj" fmla="val 625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Standardize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each feature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36 × 15</a:t>
            </a:r>
            <a:endParaRPr lang="en-US" sz="1000" dirty="0"/>
          </a:p>
        </p:txBody>
      </p:sp>
      <p:sp>
        <p:nvSpPr>
          <p:cNvPr id="19" name="brace same as MixNet"/>
          <p:cNvSpPr/>
          <p:nvPr/>
        </p:nvSpPr>
        <p:spPr>
          <a:xfrm rot="5400000">
            <a:off x="3675888" y="-448056"/>
            <a:ext cx="146304" cy="3017520"/>
          </a:xfrm>
          <a:prstGeom prst="leftBrac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740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same as MixNet</a:t>
            </a:r>
            <a:endParaRPr lang="en-US" sz="1100" dirty="0"/>
          </a:p>
        </p:txBody>
      </p:sp>
      <p:sp>
        <p:nvSpPr>
          <p:cNvPr id="21" name="brace our change"/>
          <p:cNvSpPr/>
          <p:nvPr/>
        </p:nvSpPr>
        <p:spPr>
          <a:xfrm rot="5400000">
            <a:off x="6967728" y="-448056"/>
            <a:ext cx="146304" cy="3017520"/>
          </a:xfrm>
          <a:prstGeom prst="leftBrac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740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our change</a:t>
            </a:r>
            <a:endParaRPr lang="en-US" sz="1100" dirty="0"/>
          </a:p>
        </p:txBody>
      </p:sp>
      <p:sp>
        <p:nvSpPr>
          <p:cNvPr id="23" name="Fit on train body"/>
          <p:cNvSpPr/>
          <p:nvPr/>
        </p:nvSpPr>
        <p:spPr>
          <a:xfrm>
            <a:off x="411480" y="2514600"/>
            <a:ext cx="4572000" cy="169164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24" name="Fit on train title"/>
          <p:cNvSpPr txBox="1"/>
          <p:nvPr/>
        </p:nvSpPr>
        <p:spPr>
          <a:xfrm>
            <a:off x="411480" y="2514600"/>
            <a:ext cx="457200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Teal boxes: fit on the training fold only</a:t>
            </a:r>
            <a:endParaRPr lang="en-US" sz="1300" dirty="0"/>
          </a:p>
        </p:txBody>
      </p:sp>
      <p:sp>
        <p:nvSpPr>
          <p:cNvPr id="25" name="Fit on train text"/>
          <p:cNvSpPr txBox="1"/>
          <p:nvPr/>
        </p:nvSpPr>
        <p:spPr>
          <a:xfrm>
            <a:off x="448056" y="2825496"/>
            <a:ext cx="4498848" cy="13441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“Fit CSP: training data only”</a:t>
            </a:r>
            <a:r>
              <a:rPr lang="en-US" sz="900" dirty="0">
                <a:solidFill>
                  <a:schemeClr val="tx2"/>
                </a:solidFill>
              </a:rPr>
              <a:t> [lecture p.60]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“Training-set per-channel standardization”</a:t>
            </a:r>
            <a:r>
              <a:rPr lang="en-US" sz="900" dirty="0">
                <a:solidFill>
                  <a:schemeClr val="tx2"/>
                </a:solidFill>
              </a:rPr>
              <a:t> [lecture p.31]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Validation and session E only reuse the saved filters and mean/SD. A self-check in the code tests this.</a:t>
            </a:r>
            <a:endParaRPr lang="en-US" sz="1300" dirty="0"/>
          </a:p>
        </p:txBody>
      </p:sp>
      <p:sp>
        <p:nvSpPr>
          <p:cNvPr id="26" name="Output body"/>
          <p:cNvSpPr/>
          <p:nvPr/>
        </p:nvSpPr>
        <p:spPr>
          <a:xfrm>
            <a:off x="5257800" y="2514600"/>
            <a:ext cx="3474720" cy="86868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27" name="Output title"/>
          <p:cNvSpPr txBox="1"/>
          <p:nvPr/>
        </p:nvSpPr>
        <p:spPr>
          <a:xfrm>
            <a:off x="5257800" y="2514600"/>
            <a:ext cx="347472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Output per trial</a:t>
            </a:r>
            <a:endParaRPr lang="en-US" sz="1300" dirty="0"/>
          </a:p>
        </p:txBody>
      </p:sp>
      <p:sp>
        <p:nvSpPr>
          <p:cNvPr id="28" name="Output text"/>
          <p:cNvSpPr txBox="1"/>
          <p:nvPr/>
        </p:nvSpPr>
        <p:spPr>
          <a:xfrm>
            <a:off x="5294376" y="2825496"/>
            <a:ext cx="3401568" cy="521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36 features (9 bands × 4 CSP filters) × 15 time windows, standardized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Our change: one log-variance per short window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54864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3/5</a:t>
            </a:r>
            <a:endParaRPr lang="en-US" sz="900" dirty="0"/>
          </a:p>
        </p:txBody>
      </p:sp>
      <p:pic>
        <p:nvPicPr>
          <p:cNvPr id="5" name="Image 0" descr="CSP signal with sliding 0.5 s windows (0.25 s step); power drops about 1 s after the cue (ERD); one log-variance bar per window, 0 to 4 s after c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663440" cy="2374666"/>
          </a:xfrm>
          <a:prstGeom prst="rect">
            <a:avLst/>
          </a:prstGeom>
        </p:spPr>
      </p:pic>
      <p:sp>
        <p:nvSpPr>
          <p:cNvPr id="6" name="Formula body"/>
          <p:cNvSpPr/>
          <p:nvPr/>
        </p:nvSpPr>
        <p:spPr>
          <a:xfrm>
            <a:off x="5349240" y="777240"/>
            <a:ext cx="3383280" cy="160020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7" name="Formula title"/>
          <p:cNvSpPr txBox="1"/>
          <p:nvPr/>
        </p:nvSpPr>
        <p:spPr>
          <a:xfrm>
            <a:off x="5349240" y="777240"/>
            <a:ext cx="338328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Normalized log-variance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85816" y="1088136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band </a:t>
            </a:r>
            <a:r>
              <a:rPr lang="en-US" sz="1300" i="1" dirty="0">
                <a:solidFill>
                  <a:schemeClr val="tx1"/>
                </a:solidFill>
              </a:rPr>
              <a:t>b</a:t>
            </a:r>
            <a:r>
              <a:rPr lang="en-US" sz="1300" dirty="0">
                <a:solidFill>
                  <a:schemeClr val="tx1"/>
                </a:solidFill>
              </a:rPr>
              <a:t>, CSP filter </a:t>
            </a:r>
            <a:r>
              <a:rPr lang="en-US" sz="1300" i="1" dirty="0">
                <a:solidFill>
                  <a:schemeClr val="tx1"/>
                </a:solidFill>
              </a:rPr>
              <a:t>i</a:t>
            </a:r>
            <a:r>
              <a:rPr lang="en-US" sz="1300" dirty="0">
                <a:solidFill>
                  <a:schemeClr val="tx1"/>
                </a:solidFill>
              </a:rPr>
              <a:t>, window </a:t>
            </a:r>
            <a:r>
              <a:rPr lang="en-US" sz="1300" i="1" dirty="0">
                <a:solidFill>
                  <a:schemeClr val="tx1"/>
                </a:solidFill>
              </a:rPr>
              <a:t>w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endParaRPr lang="en-US" sz="1300" dirty="0"/>
          </a:p>
        </p:txBody>
      </p:sp>
      <p:pic>
        <p:nvPicPr>
          <p:cNvPr id="9" name="Image 1" descr="f_{b,i,w} = log of var(z_{b,i}[w]) divided by the sum over j = 1..4 of var(z_{b,j}[w]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1417320"/>
            <a:ext cx="2240280" cy="5491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85816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 [lecture p.59]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2514600"/>
            <a:ext cx="3383280" cy="20116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(400 − 50)/25 + 1 = 15 windows in 4 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step learns nothing, so it cannot leak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Then each feature is standardized with the training-fold mean and SD</a:t>
            </a:r>
            <a:r>
              <a:rPr lang="en-US" sz="1000" dirty="0">
                <a:solidFill>
                  <a:schemeClr val="tx2"/>
                </a:solidFill>
              </a:rPr>
              <a:t> [lecture p.31]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Quick LDA test: class information is not spread evenly in time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73152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4/5</a:t>
            </a:r>
            <a:endParaRPr lang="en-US" sz="900" dirty="0"/>
          </a:p>
        </p:txBody>
      </p:sp>
      <p:pic>
        <p:nvPicPr>
          <p:cNvPr id="5" name="Image 0" descr="LDA validation accuracy per 0.5 s window vs time after cue, with lines for one 4 s window (82.0%) and all 15 windows together (84.7%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029200" cy="2715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32120" y="868680"/>
            <a:ext cx="3200400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4"/>
                </a:solidFill>
              </a:rPr>
              <a:t>One 0.5 s window</a:t>
            </a:r>
            <a:r>
              <a:rPr lang="en-US" sz="1250" dirty="0">
                <a:solidFill>
                  <a:schemeClr val="tx1"/>
                </a:solidFill>
              </a:rPr>
              <a:t> (36 numbers, one LDA per window): peaks at 0.75-1 s (75.5%), near 61% at both ends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2"/>
                </a:solidFill>
              </a:rPr>
              <a:t>One 4 s window</a:t>
            </a:r>
            <a:r>
              <a:rPr lang="en-US" sz="1250" dirty="0">
                <a:solidFill>
                  <a:schemeClr val="tx1"/>
                </a:solidFill>
              </a:rPr>
              <a:t> = whole trial, classic CSP (36 numbers): </a:t>
            </a:r>
            <a:r>
              <a:rPr lang="en-US" sz="1250" dirty="0">
                <a:solidFill>
                  <a:schemeClr val="accent2"/>
                </a:solidFill>
              </a:rPr>
              <a:t>82.0%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accent1"/>
                </a:solidFill>
              </a:rPr>
              <a:t>All 15 windows together</a:t>
            </a:r>
            <a:r>
              <a:rPr lang="en-US" sz="1250" dirty="0">
                <a:solidFill>
                  <a:schemeClr val="tx1"/>
                </a:solidFill>
              </a:rPr>
              <a:t> = our features (540 numbers): </a:t>
            </a:r>
            <a:r>
              <a:rPr lang="en-US" sz="1250" dirty="0">
                <a:solidFill>
                  <a:schemeClr val="accent1"/>
                </a:solidFill>
              </a:rPr>
              <a:t>84.7%</a:t>
            </a:r>
            <a:r>
              <a:rPr lang="en-US" sz="1250" dirty="0">
                <a:solidFill>
                  <a:schemeClr val="tx1"/>
                </a:solidFill>
              </a:rPr>
              <a:t>, better in 8 of 9 subjects</a:t>
            </a:r>
            <a:endParaRPr lang="en-US" sz="1250" dirty="0"/>
          </a:p>
        </p:txBody>
      </p:sp>
      <p:sp>
        <p:nvSpPr>
          <p:cNvPr id="7" name="Method body"/>
          <p:cNvSpPr/>
          <p:nvPr/>
        </p:nvSpPr>
        <p:spPr>
          <a:xfrm>
            <a:off x="411480" y="3566160"/>
            <a:ext cx="8321040" cy="109728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8" name="Method title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How we got these numbers</a:t>
            </a:r>
            <a:endParaRPr lang="en-US" sz="1200" dirty="0"/>
          </a:p>
        </p:txBody>
      </p:sp>
      <p:sp>
        <p:nvSpPr>
          <p:cNvPr id="9" name="Method text"/>
          <p:cNvSpPr txBox="1"/>
          <p:nvPr/>
        </p:nvSpPr>
        <p:spPr>
          <a:xfrm>
            <a:off x="448056" y="3858768"/>
            <a:ext cx="8247888" cy="76809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 simple shrinkage LDA, the classic classifier after CSP</a:t>
            </a:r>
            <a:r>
              <a:rPr lang="en-US" sz="800" dirty="0">
                <a:solidFill>
                  <a:schemeClr val="tx2"/>
                </a:solidFill>
              </a:rPr>
              <a:t> [lecture p.60]</a:t>
            </a:r>
            <a:r>
              <a:rPr lang="en-US" sz="1100" dirty="0">
                <a:solidFill>
                  <a:schemeClr val="tx1"/>
                </a:solidFill>
              </a:rPr>
              <a:t>, trained on our features before building HWNet. Same 5 folds as the real pipeline: fit on the training fold, score on the validation fold of session T, mean of 9 subjects (band = ±1 SE). Session E not used: </a:t>
            </a:r>
            <a:r>
              <a:rPr lang="en-US" sz="1100" dirty="0">
                <a:solidFill>
                  <a:schemeClr val="accent4"/>
                </a:solidFill>
              </a:rPr>
              <a:t>not test results</a:t>
            </a:r>
            <a:r>
              <a:rPr lang="en-US" sz="1100" dirty="0">
                <a:solidFill>
                  <a:schemeClr val="tx1"/>
                </a:solidFill>
              </a:rPr>
              <a:t>, not comparable with MixNet.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the model sees: 36 features × 15 windows</a:t>
            </a:r>
            <a:endParaRPr lang="en-US" sz="1800" dirty="0"/>
          </a:p>
        </p:txBody>
      </p:sp>
      <p:sp>
        <p:nvSpPr>
          <p:cNvPr id="3" name="progress"/>
          <p:cNvSpPr/>
          <p:nvPr/>
        </p:nvSpPr>
        <p:spPr>
          <a:xfrm>
            <a:off x="0" y="502920"/>
            <a:ext cx="9144000" cy="320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5/5</a:t>
            </a:r>
            <a:endParaRPr lang="en-US" sz="900" dirty="0"/>
          </a:p>
        </p:txBody>
      </p:sp>
      <p:pic>
        <p:nvPicPr>
          <p:cNvPr id="5" name="Image 0" descr="Heatmap of right minus left class mean for 36 CSP features (9 bands x 4 filters) over 15 windows, in training SD un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572000" cy="29817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640080"/>
            <a:ext cx="3611880" cy="2880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cell: right minus left class mean, in training SD units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Strongest in </a:t>
            </a:r>
            <a:r>
              <a:rPr lang="en-US" sz="1300" dirty="0">
                <a:solidFill>
                  <a:schemeClr val="accent4"/>
                </a:solidFill>
              </a:rPr>
              <a:t>8-12 Hz (Mu)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dirty="0">
                <a:solidFill>
                  <a:schemeClr val="accent4"/>
                </a:solidFill>
              </a:rPr>
              <a:t>20-24 Hz (beta)</a:t>
            </a:r>
            <a:r>
              <a:rPr lang="en-US" sz="1300" dirty="0">
                <a:solidFill>
                  <a:schemeClr val="tx1"/>
                </a:solidFill>
              </a:rPr>
              <a:t>, from about 0.5 to 2.5 s, the bands where ERD/ERS shows up</a:t>
            </a:r>
            <a:r>
              <a:rPr lang="en-US" sz="900" dirty="0">
                <a:solidFill>
                  <a:schemeClr val="tx2"/>
                </a:solidFill>
              </a:rPr>
              <a:t> [lecture p.51]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Rows alternate in sign because CSP takes filters from </a:t>
            </a:r>
            <a:r>
              <a:rPr lang="en-US" sz="1300" dirty="0">
                <a:solidFill>
                  <a:schemeClr val="accent4"/>
                </a:solidFill>
              </a:rPr>
              <a:t>both ends</a:t>
            </a:r>
            <a:r>
              <a:rPr lang="en-US" sz="1300" dirty="0">
                <a:solidFill>
                  <a:schemeClr val="tx1"/>
                </a:solidFill>
              </a:rPr>
              <a:t>: one end has more power for left hand, the other for right</a:t>
            </a:r>
            <a:r>
              <a:rPr lang="en-US" sz="900" dirty="0">
                <a:solidFill>
                  <a:schemeClr val="tx2"/>
                </a:solidFill>
              </a:rPr>
              <a:t> [lecture p.57]</a:t>
            </a:r>
            <a:endParaRPr lang="en-US" sz="1300" dirty="0"/>
          </a:p>
        </p:txBody>
      </p:sp>
      <p:sp>
        <p:nvSpPr>
          <p:cNvPr id="7" name="Takeaway body"/>
          <p:cNvSpPr/>
          <p:nvPr/>
        </p:nvSpPr>
        <p:spPr>
          <a:xfrm>
            <a:off x="5120640" y="3611880"/>
            <a:ext cx="3611880" cy="868680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8" name="Takeaway title"/>
          <p:cNvSpPr txBox="1"/>
          <p:nvPr/>
        </p:nvSpPr>
        <p:spPr>
          <a:xfrm>
            <a:off x="5120640" y="3611880"/>
            <a:ext cx="3611880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Takeaway</a:t>
            </a:r>
            <a:endParaRPr lang="en-US" sz="1300" dirty="0"/>
          </a:p>
        </p:txBody>
      </p:sp>
      <p:sp>
        <p:nvSpPr>
          <p:cNvPr id="9" name="Takeaway text"/>
          <p:cNvSpPr txBox="1"/>
          <p:nvPr/>
        </p:nvSpPr>
        <p:spPr>
          <a:xfrm>
            <a:off x="5157216" y="3922776"/>
            <a:ext cx="3538728" cy="5212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trial becomes </a:t>
            </a:r>
            <a:r>
              <a:rPr lang="en-US" sz="1300" i="1" dirty="0">
                <a:solidFill>
                  <a:schemeClr val="tx1"/>
                </a:solidFill>
              </a:rPr>
              <a:t>which band</a:t>
            </a:r>
            <a:r>
              <a:rPr lang="en-US" sz="1300" dirty="0">
                <a:solidFill>
                  <a:schemeClr val="tx1"/>
                </a:solidFill>
              </a:rPr>
              <a:t>, </a:t>
            </a:r>
            <a:r>
              <a:rPr lang="en-US" sz="1300" i="1" dirty="0">
                <a:solidFill>
                  <a:schemeClr val="tx1"/>
                </a:solidFill>
              </a:rPr>
              <a:t>which spatial filter</a:t>
            </a:r>
            <a:r>
              <a:rPr lang="en-US" sz="1300" dirty="0">
                <a:solidFill>
                  <a:schemeClr val="tx1"/>
                </a:solidFill>
              </a:rPr>
              <a:t> and </a:t>
            </a:r>
            <a:r>
              <a:rPr lang="en-US" sz="1300" i="1" dirty="0">
                <a:solidFill>
                  <a:schemeClr val="tx1"/>
                </a:solidFill>
              </a:rPr>
              <a:t>when</a:t>
            </a:r>
            <a:r>
              <a:rPr lang="en-US" sz="1300" dirty="0">
                <a:solidFill>
                  <a:schemeClr val="tx1"/>
                </a:solidFill>
              </a:rPr>
              <a:t>, in 540 numbers.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4773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All 144 session T trials per subject, averaged over 9 subjects. Session E not used.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Backup: settings and data notes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settings live in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experiments/prep_HW.py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46634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280160"/>
                <a:gridCol w="1600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win_len</a:t>
                      </a: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win_step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s, 0.25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s, 4.0 s (classic)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(MixNet size)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norm_logvar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bands, 4-40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Quick LDA check (validation, session T): ours 84.7%, classic 82.0%, </a:t>
            </a: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norm_logvar=False</a:t>
            </a:r>
            <a:r>
              <a:rPr lang="en-US" sz="1050" dirty="0">
                <a:solidFill>
                  <a:schemeClr val="tx1"/>
                </a:solidFill>
              </a:rPr>
              <a:t> 85.0%, </a:t>
            </a: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n_components=2</a:t>
            </a:r>
            <a:r>
              <a:rPr lang="en-US" sz="1050" dirty="0">
                <a:solidFill>
                  <a:schemeClr val="tx1"/>
                </a:solidFill>
              </a:rPr>
              <a:t> not run yet.</a:t>
            </a:r>
            <a:endParaRPr lang="en-US" sz="1050" dirty="0"/>
          </a:p>
        </p:txBody>
      </p:sp>
      <p:sp>
        <p:nvSpPr>
          <p:cNvPr id="6" name="Data notes body"/>
          <p:cNvSpPr/>
          <p:nvPr/>
        </p:nvSpPr>
        <p:spPr>
          <a:xfrm>
            <a:off x="5349240" y="777240"/>
            <a:ext cx="3383280" cy="2377440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7" name="Data notes title"/>
          <p:cNvSpPr txBox="1"/>
          <p:nvPr/>
        </p:nvSpPr>
        <p:spPr>
          <a:xfrm>
            <a:off x="5349240" y="777240"/>
            <a:ext cx="338328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76200" tIns="0" rIns="762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Data notes</a:t>
            </a:r>
            <a:endParaRPr lang="en-US" sz="1300" dirty="0"/>
          </a:p>
        </p:txBody>
      </p:sp>
      <p:sp>
        <p:nvSpPr>
          <p:cNvPr id="8" name="Data notes text"/>
          <p:cNvSpPr txBox="1"/>
          <p:nvPr/>
        </p:nvSpPr>
        <p:spPr>
          <a:xfrm>
            <a:off x="5385816" y="1088136"/>
            <a:ext cx="3310128" cy="20299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50 Hz line noise: removed. After resampling to 100 Hz it sits at the top edge, where every band filter blocks it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Drift and eye movement below 4 Hz: removed by the lowest band edge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removed: blinks in 4-8 Hz, muscle noise in beta, and trials marked as artifacts (2 to 36 of 144 per subject)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(1/5): raw EEG, 20 × 400</a:t>
            </a:r>
            <a:endParaRPr lang="en-US" sz="1800" dirty="0"/>
          </a:p>
        </p:txBody>
      </p:sp>
      <p:pic>
        <p:nvPicPr>
          <p:cNvPr id="3" name="Image 0" descr="Raw EEG of one left hand and one right hand trial, 20 channels over 4 s, with C3 and C4 in col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</a:t>
            </a:r>
            <a:r>
              <a:rPr lang="en-US" sz="1350" dirty="0">
                <a:solidFill>
                  <a:schemeClr val="accent2"/>
                </a:solidFill>
              </a:rPr>
              <a:t>left hand</a:t>
            </a:r>
            <a:r>
              <a:rPr lang="en-US" sz="1350" dirty="0">
                <a:solidFill>
                  <a:schemeClr val="tx1"/>
                </a:solidFill>
              </a:rPr>
              <a:t> and one </a:t>
            </a:r>
            <a:r>
              <a:rPr lang="en-US" sz="1350" dirty="0">
                <a:solidFill>
                  <a:schemeClr val="accent1"/>
                </a:solidFill>
              </a:rPr>
              <a:t>right hand</a:t>
            </a:r>
            <a:r>
              <a:rPr lang="en-US" sz="1350" dirty="0">
                <a:solidFill>
                  <a:schemeClr val="tx1"/>
                </a:solidFill>
              </a:rPr>
              <a:t> trial: 20 channels, 4 s at 100 Hz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C3 and C4 (over the hand areas) in colour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By eye the two classes look the same: the difference is hidden in </a:t>
            </a:r>
            <a:r>
              <a:rPr lang="en-US" sz="1350" dirty="0">
                <a:solidFill>
                  <a:schemeClr val="accent4"/>
                </a:solidFill>
              </a:rPr>
              <a:t>band power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(2/5): filter bank, 9 × 20 × 400</a:t>
            </a:r>
            <a:endParaRPr lang="en-US" sz="1800" dirty="0"/>
          </a:p>
        </p:txBody>
      </p:sp>
      <p:pic>
        <p:nvPicPr>
          <p:cNvPr id="3" name="Image 0" descr="Left: C4 of the left hand trial in 9 bands. Right: 8-12 Hz mean log-variance at C3 and C4 per 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Left: C4 of the left hand trial split into 9 bands (each trace scaled on its own)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Right: 8-12 Hz power is lower at </a:t>
            </a:r>
            <a:r>
              <a:rPr lang="en-US" sz="1350" dirty="0">
                <a:solidFill>
                  <a:schemeClr val="accent4"/>
                </a:solidFill>
              </a:rPr>
              <a:t>C4 for left hand</a:t>
            </a:r>
            <a:r>
              <a:rPr lang="en-US" sz="1350" dirty="0">
                <a:solidFill>
                  <a:schemeClr val="tx1"/>
                </a:solidFill>
              </a:rPr>
              <a:t> and lower at </a:t>
            </a:r>
            <a:r>
              <a:rPr lang="en-US" sz="1350" dirty="0">
                <a:solidFill>
                  <a:schemeClr val="accent4"/>
                </a:solidFill>
              </a:rPr>
              <a:t>C3 for right hand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That is contralateral ERD</a:t>
            </a:r>
            <a:r>
              <a:rPr lang="en-US" sz="1000" dirty="0">
                <a:solidFill>
                  <a:schemeClr val="tx2"/>
                </a:solidFill>
              </a:rPr>
              <a:t> [lecture p.51]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(3/5): CSP per band, 36 × 400 (8-12 Hz shown)</a:t>
            </a:r>
            <a:endParaRPr lang="en-US" sz="1800" dirty="0"/>
          </a:p>
        </p:txBody>
      </p:sp>
      <p:pic>
        <p:nvPicPr>
          <p:cNvPr id="3" name="Image 0" descr="Spatial patterns of two 8-12 Hz CSP filters and their output for the left and right hand example tr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5486400" cy="3314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685800"/>
            <a:ext cx="2743200" cy="33147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Maps: spatial pattern of each filter, i.e. where it looks</a:t>
            </a:r>
            <a:r>
              <a:rPr lang="en-US" sz="900" dirty="0">
                <a:solidFill>
                  <a:schemeClr val="tx2"/>
                </a:solidFill>
              </a:rPr>
              <a:t> [lecture p.58]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1 gives more power for left hand, filter 2 for right hand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1 shows the gap clearly in these two trials; filter 2 less so, single trials are noisy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20 channels become 4 signals per band; time is untouched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(4/5): windowed log-variance, 36 × 15</a:t>
            </a:r>
            <a:endParaRPr lang="en-US" sz="1800" dirty="0"/>
          </a:p>
        </p:txBody>
      </p:sp>
      <p:pic>
        <p:nvPicPr>
          <p:cNvPr id="3" name="Image 0" descr="Standardized 36 x 15 feature maps of the left hand and right hand example tr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85800"/>
            <a:ext cx="4572000" cy="33675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685800"/>
            <a:ext cx="3657600" cy="336756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two trials as the model sees them: 36 rows (9 bands × 4 filters) × 15 windows, standardized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trial alone is noisy; the class difference shows up only across many trials (next slide)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S3 walkthrough (5/5): do the features separate the classes?</a:t>
            </a:r>
            <a:endParaRPr lang="en-US" sz="1800" dirty="0"/>
          </a:p>
        </p:txBody>
      </p:sp>
      <p:pic>
        <p:nvPicPr>
          <p:cNvPr id="3" name="Image 0" descr="Class means of the two 8-12 Hz CSP filters over time, and a scatter of every trial at the 1.0 s wind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640080"/>
            <a:ext cx="5852160" cy="25884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301687"/>
            <a:ext cx="841248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Class means of the two 8-12 Hz filters: the gap is small right after the cue and grows within about 1 s, the timing our windows keep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Right: every trial at the 1.0 s window, using only 2 of the 540 numbers, already mostly separable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S3 is one of the easier subjects (quick LDA check: 95.8%), so other subjects look less clean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Subject 3, session T only (144 trials, 72 per class). Example trials = the trial closest to its class mean. CSP and scaler fit on all session T trials of S3 for this picture; no accuracy is computed here.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p Metropolis">
  <a:themeElements>
    <a:clrScheme name="Prep Metropolis">
      <a:dk1>
        <a:srgbClr val="23373B"/>
      </a:dk1>
      <a:lt1>
        <a:srgbClr val="FAFAFA"/>
      </a:lt1>
      <a:dk2>
        <a:srgbClr val="808080"/>
      </a:dk2>
      <a:lt2>
        <a:srgbClr val="FFFFFF"/>
      </a:lt2>
      <a:accent1>
        <a:srgbClr val="1B7F79"/>
      </a:accent1>
      <a:accent2>
        <a:srgbClr val="9A6A00"/>
      </a:accent2>
      <a:accent3>
        <a:srgbClr val="7A3E9D"/>
      </a:accent3>
      <a:accent4>
        <a:srgbClr val="EB811B"/>
      </a:accent4>
      <a:accent5>
        <a:srgbClr val="999999"/>
      </a:accent5>
      <a:accent6>
        <a:srgbClr val="5A5A5A"/>
      </a:accent6>
      <a:hlink>
        <a:srgbClr val="1B7F79"/>
      </a:hlink>
      <a:folHlink>
        <a:srgbClr val="7A3E9D"/>
      </a:folHlink>
    </a:clrScheme>
    <a:fontScheme name="Prep Metropol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1: Preprocessing</dc:title>
  <dc:subject>PptxGenJS Presentation</dc:subject>
  <dc:creator>PptxGenJS</dc:creator>
  <cp:lastModifiedBy>PptxGenJS</cp:lastModifiedBy>
  <cp:revision>1</cp:revision>
  <dcterms:created xsi:type="dcterms:W3CDTF">2026-10-29T10:27:06Z</dcterms:created>
  <dcterms:modified xsi:type="dcterms:W3CDTF">2026-10-29T10:27:06Z</dcterms:modified>
</cp:coreProperties>
</file>